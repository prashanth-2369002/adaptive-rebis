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ee643f1-c738-b523-296e-256678053764}">
          <p14:sldIdLst>
            <p14:sldId id="256"/>
            <p14:sldId id="257"/>
            <p14:sldId id="258"/>
            <p14:sldId id="259"/>
          </p14:sldIdLst>
        </p14:section>
        <p14:section name="Method" id="{24a6aaf7-b478-4bc6-8f97-b15b95ffea49}">
          <p14:sldIdLst>
            <p14:sldId id="260"/>
            <p14:sldId id="261"/>
            <p14:sldId id="262"/>
            <p14:sldId id="263"/>
            <p14:sldId id="264"/>
            <p14:sldId id="265"/>
            <p14:sldId id="266"/>
          </p14:sldIdLst>
        </p14:section>
        <p14:section name="Results" id="{2823097a-60ae-4fad-26d9-01b67d65bf2f}">
          <p14:sldIdLst>
            <p14:sldId id="267"/>
            <p14:sldId id="268"/>
            <p14:sldId id="269"/>
            <p14:sldId id="270"/>
            <p14:sldId id="271"/>
          </p14:sldIdLst>
        </p14:section>
        <p14:section name="Network validation" id="{a6746721-2ec1-935a-b9d6-b8796d954b53}">
          <p14:sldIdLst>
            <p14:sldId id="272"/>
            <p14:sldId id="273"/>
            <p14:sldId id="274"/>
            <p14:sldId id="275"/>
          </p14:sldIdLst>
        </p14:section>
        <p14:section name="Wrap-up" id="{fd3387f2-6672-032f-5978-e1b40439b70b}">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Adaptive-ReBIS: an energy management system that coordinates solar PV, a battery and the grid for an EV charging hub plus building loads such as HVAC and water heaters. It forecasts tomorrow's demand with machine learning, plans the battery with Genetic Algorithm and Particle Swarm Optimisation, and we validate the result on the IEEE 33-bus and 69-bus distribution feeders.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Our site model peaks around 17:00 in May when EV charging, HVAC and evening lighting overlap. A large share of grid energy lands in the ToD peak window. When five such sites sit on the IEEE 33-bus feeder, the tail voltage drops below the Indian -9 percent limit. A simple battery rule doesn't solve it, because the battery is often already empty when the evening peak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each maps to one module of the code. Data, forecasting, power-sharing optimisation, sizing, grid validation and the KPIs.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starting point is the ReBIS strategy from Rehman et al., Applied Energy 2025. It was one EV station in Australia, with fixed weights and rule-based dispatch. We extend it in seven ways, listed here. The two genuinely new ideas are the adaptive time-varying weights and the forecast-driven optimiser with real-time correction; the rest is thorough engineering: Indian data, joint sizing, and network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pipeline. One: real data. Two: ML forecast of tomorrow's hourly demand. Three: the day-ahead optimiser, GA or PSO, produces a 24-hour battery schedule using adaptive weights; the exact LP is our check. Four: in real time the controller corrects for forecast error. Five: the site itself, where PV feeds the load first, the battery charges from surplus and discharges by SOC, and the grid covers the rest. Six: we load-flow the result on the IEEE feeders and compute the KPIs. This runs for every day of the year, with the battery state carried from one day 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weather and resource inputs are real: a full year of hourly PVGIS data for Hyderabad. PV yields about 3.7 kWh per kWp per day. Wind is very weak here, a capacity factor of only about 3 percent, which matters for sizing. Tariff is the real TGERC time-of-day structure, CO2 factor from CEA.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had no metered data for the site, so the load is modelled, but on top of the real temperature series. Each EV is simulated individually with a charger queue. This is the honest point to state: weather and tariff are real, the load is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forecasters compared. Every forecast is out-of-sample: for each month, the model is trained on the other eleven. The neural network and random forest are clearly better than the naive "same as yesterday" forecast: R-squared 0.85 versus 0.57. EV demand is random by nature, so a perfect forecast is impossible; that is why the real-time layer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EMS. One decision variable per hour: battery power. The objective is a weighted sum of cost, CO2 and a weighted peak, each normalised by the no-battery case so the weights are comparable. The weights are adaptive: at night cost matters most, in the evening ToD peak the weight moves to grid peak. The schedule must leave the battery at least half full for tomorrow's morning peak. Then three layers: the day-ahead plan, real-time correction, and a peak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metaheuristics are implemented in NumPy and vectorised over the whole population, so a day solves in well under a second. The key point: because this problem happens to be linear, we can also solve it exactly by LP, and that tells us how good GA and PSO are. Over all 366 days PSO is on average 0.45 percent from the true optimum and GA 1.34 percent. Why keep GA and PSO if LP exists? Because once you add non-linear battery ageing, discrete charger control or converter efficiency curves, LP no longer applies; GA and PSO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of the optimality gap over all 366 days. PSO is lower on average (0.45 vs 1.34 percent) and at the 95th percentile (1.36 vs 2.35); both have a few harder days, the single worst being 4.7 percent for PSO and 3.3 for GA. The convergence plot shows both on the peak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 and PSO search PV, battery and wind sizes; each candidate is simulated over all 8784 hours, scored on annualised capital cost plus O and M, energy bill, demand charges, battery wear and a carbon cost. Both converge to the same answer: 300 kWp PV, 49 kWh battery and no wind. Honest finding: at today's battery price the battery barely pays on the bill alone; the right chart shows the optimum battery growing as battery prices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day, 15 May, the highest-demand day. Top: where the power comes from each hour. Middle: battery state of charge, rule-based in orange versus ours in blue. The rule-based battery is emptied in the afternoon; ours waits for the evening peak. Bottom: grid import; our peak is the lowest of the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day of 2020, seven strategies. Adaptive-ReBIS with PSO saves 42.2 percent of operating cost versus grid only, slightly more than the rule-based ReBIS, while cutting the annual peak by 14.5 percent versus 7.9 percent. PSO lands on top of the exact LP on forecast. The perfect-foresight LP is an upper bound that needs tomorrow known exactly; the gap to it is the cost of forecast error. Honest note: CO2 is marginally higher than the rule-based scheme, because keeping charge for the peak means a little more battery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comparison with a larger, 200 kWh battery sized for grid support rather than for the bill. With more storage the adaptive scheduler's advantage in peak reduction grows clearly: average daily peak 103 kW with PSO and 98 kW with GA, versus 130 kW for the rule-based scheme. Note that over the real year GA and PSO end within about one percent on cost; GA even gave the lower peak here. Once the plan is near-optimal, forecast quality matters more than the choice of optimiser. CO2: the rule-based scheme is lower (50.3 versus 48.3 percent reduction), because it never charges from the grid; that is the price of holding charge for the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sweep shows the value of the adaptive EMS grows with battery size. A bigger battery with the old rule gives almost no extra peak reduction. Our planner turns capacity into peak shaving. We are open about the trade-off: more cycling means slightly more losses and wear.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trusting any network result we reproduce the published base cases: 202.67 kW loss and 0.9131 pu on the 33-bus, 224.95 kW and 0.9092 pu on the 69-bus. Both our solvers match. Our own backward-forward sweep agrees with pandapower to better than a millionth of a pu, and since it is vectorised we can run the whole year, not just a few snapshots.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results for the economic design, five sites on each feeder, every hour of the year. Adding the sites on grid supply alone pushes the 33-bus tail to 0.883 pu, below the 0.91 limit for 1704 hours. PV and the battery schemes reduce both the hours and the losses. With only a 49 kWh battery the battery schemes are close to each other; the next slide shows the 200 kWh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200 kWh battery. Adaptive-ReBIS gives the best lowest voltage, the fewest under-voltage bus-hours (9078 versus 9782 rule-based on 33-bus), and the lowest losses and substation peak. One honest finding: the rule-based scheme has fewer HOURS below the limit (1322 versus 1558). The reason is that our EMS follows the TGERC tariff, whose peak windows are 6 to 10 and 18 to 22, while this feeder is most stressed from 17 to 21. So part of the battery is spent on the morning tariff peak when the feeder is not stressed. The tariff signal and the network signal do not line up. That is our main future-work item: feed a DSO network-stress signal into the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duration curve shows the whole year at once. And a reliability view: during random grid outages, a site with PV and a battery behind a hybrid inverter can keep serving load; a grid-tied PV system without battery must shut down. These outage statistics are an assumption, stated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open-source Python, and one command regenerates every number in this deck. For the demo, open the dashboard and walk through the five steps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adaptive, forecast-driven scheduler outperforms the rule-based ReBIS on cost and peak, PSO reaches the exact optimum within a fraction of a percent, the sizing gives a clear economic design, and the network study shows the benefit at feeder level. Next steps: add smart EV charging, a battery ageing model, real metered data and a marginal emission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the two journal papers from our abstract, the base paper, the IEEE test-feeder sources, pandapower, and the data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749040"/>
            <a:ext cx="10698480" cy="2377440"/>
          </a:xfrm>
          <a:prstGeom prst="rect">
            <a:avLst/>
          </a:prstGeom>
          <a:noFill/>
          <a:ln/>
        </p:spPr>
        <p:txBody>
          <a:bodyPr wrap="square" rtlCol="0"/>
          <a:lstStyle>
            <a:lvl1pPr indent="0" marL="0">
              <a:buNone/>
              <a:defRPr lang="en-US" sz="1800" dirty="0">
                <a:solidFill>
                  <a:schemeClr val="bg2"/>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Adaptive-ReBIS  |  Capstone review  |  Batch 23CRT GET003</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Adaptive-ReBIS: Adaptive Renewable-Integrated Energy Management for EV Charging and Appliance Loads</a:t>
            </a:r>
            <a:endParaRPr lang="en-US" sz="4000" dirty="0"/>
          </a:p>
        </p:txBody>
      </p:sp>
      <p:sp>
        <p:nvSpPr>
          <p:cNvPr id="3" name="Text 0"/>
          <p:cNvSpPr/>
          <p:nvPr>
            <p:ph idx="101" type="body" hasCustomPrompt="1"/>
          </p:nvPr>
        </p:nvSpPr>
        <p:spPr>
          <a:xfrm>
            <a:off x="731520" y="3749040"/>
            <a:ext cx="10698480" cy="2377440"/>
          </a:xfrm>
          <a:prstGeom prst="rect">
            <a:avLst/>
          </a:prstGeom>
          <a:noFill/>
          <a:ln/>
        </p:spPr>
        <p:txBody>
          <a:bodyPr wrap="square" lIns="0" tIns="0" rIns="0" bIns="0" rtlCol="0" anchor="t"/>
          <a:lstStyle/>
          <a:p>
            <a:pPr indent="0" marL="0">
              <a:buNone/>
            </a:pPr>
            <a:r>
              <a:rPr lang="en-US" sz="1800" b="1" dirty="0">
                <a:solidFill>
                  <a:srgbClr val="F2A900"/>
                </a:solidFill>
                <a:latin typeface="Calibri" pitchFamily="34" charset="0"/>
                <a:ea typeface="Calibri" pitchFamily="34" charset="-122"/>
                <a:cs typeface="Calibri" pitchFamily="34" charset="-120"/>
              </a:rPr>
              <a:t>ML day-ahead forecasting  |  GA and PSO scheduling and sizing  |  IEEE 33/69-bus validation</a:t>
            </a:r>
            <a:endParaRPr lang="en-US" sz="1800" dirty="0"/>
          </a:p>
          <a:p>
            <a:pPr indent="0" marL="0">
              <a:buNone/>
            </a:pPr>
            <a:r>
              <a:rPr lang="en-US" sz="1800" dirty="0">
                <a:solidFill>
                  <a:schemeClr val="bg2"/>
                </a:solidFill>
                <a:latin typeface="Calibri" pitchFamily="34" charset="0"/>
                <a:ea typeface="Calibri" pitchFamily="34" charset="-122"/>
                <a:cs typeface="Calibri" pitchFamily="34" charset="-120"/>
              </a:rPr>
              <a:t> </a:t>
            </a:r>
            <a:endParaRPr lang="en-US" sz="1800" dirty="0"/>
          </a:p>
          <a:p>
            <a:pPr indent="0" marL="0">
              <a:buNone/>
            </a:pPr>
            <a:r>
              <a:rPr lang="en-US" sz="1800" dirty="0">
                <a:solidFill>
                  <a:schemeClr val="bg2"/>
                </a:solidFill>
                <a:latin typeface="Calibri" pitchFamily="34" charset="0"/>
                <a:ea typeface="Calibri" pitchFamily="34" charset="-122"/>
                <a:cs typeface="Calibri" pitchFamily="34" charset="-120"/>
              </a:rPr>
              <a:t>Reddy Phaneendra (2300069007)   |   Peela Sai Vivek (2300069015)</a:t>
            </a:r>
            <a:endParaRPr lang="en-US" sz="1800" dirty="0"/>
          </a:p>
          <a:p>
            <a:pPr indent="0" marL="0">
              <a:buNone/>
            </a:pPr>
            <a:r>
              <a:rPr lang="en-US" sz="1800" dirty="0">
                <a:solidFill>
                  <a:schemeClr val="bg2"/>
                </a:solidFill>
                <a:latin typeface="Calibri" pitchFamily="34" charset="0"/>
                <a:ea typeface="Calibri" pitchFamily="34" charset="-122"/>
                <a:cs typeface="Calibri" pitchFamily="34" charset="-120"/>
              </a:rPr>
              <a:t>Guide: Dr. G. Swapna   |   Project Coordinator: Dr. B. Jyothi   |   Batch 23CRT GET003</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EV charging and cooling loads stress distribution feeders</a:t>
            </a:r>
            <a:endParaRPr lang="en-US" sz="3000" dirty="0"/>
          </a:p>
        </p:txBody>
      </p:sp>
      <p:sp>
        <p:nvSpPr>
          <p:cNvPr id="3" name="stat site peak at 17:00 on 15 May: EV hub + HVAC + lighting together (our load model)"/>
          <p:cNvSpPr txBox="1"/>
          <p:nvPr/>
        </p:nvSpPr>
        <p:spPr>
          <a:xfrm>
            <a:off x="548640" y="1371600"/>
            <a:ext cx="3474720" cy="685800"/>
          </a:xfrm>
          <a:prstGeom prst="rect">
            <a:avLst/>
          </a:prstGeom>
          <a:noFill/>
          <a:ln/>
        </p:spPr>
        <p:txBody>
          <a:bodyPr wrap="square" lIns="0" tIns="0" rIns="0" bIns="0" rtlCol="0" anchor="ctr"/>
          <a:lstStyle/>
          <a:p>
            <a:pPr indent="0" marL="0">
              <a:buNone/>
            </a:pPr>
            <a:r>
              <a:rPr lang="en-US" sz="3600" b="1" dirty="0">
                <a:solidFill>
                  <a:srgbClr val="EB6834"/>
                </a:solidFill>
                <a:latin typeface="Cambria" pitchFamily="34" charset="0"/>
                <a:ea typeface="Cambria" pitchFamily="34" charset="-122"/>
                <a:cs typeface="Cambria" pitchFamily="34" charset="-120"/>
              </a:rPr>
              <a:t>217 kW</a:t>
            </a:r>
            <a:endParaRPr lang="en-US" sz="3600" dirty="0"/>
          </a:p>
        </p:txBody>
      </p:sp>
      <p:sp>
        <p:nvSpPr>
          <p:cNvPr id="4" name="Text 2"/>
          <p:cNvSpPr txBox="1"/>
          <p:nvPr/>
        </p:nvSpPr>
        <p:spPr>
          <a:xfrm>
            <a:off x="548640" y="2057400"/>
            <a:ext cx="3474720" cy="548640"/>
          </a:xfrm>
          <a:prstGeom prst="rect">
            <a:avLst/>
          </a:prstGeom>
          <a:noFill/>
          <a:ln/>
        </p:spPr>
        <p:txBody>
          <a:bodyPr wrap="square" lIns="0" tIns="0" rIns="0" bIns="0" rtlCol="0" anchor="t"/>
          <a:lstStyle/>
          <a:p>
            <a:pPr indent="0" marL="0">
              <a:buNone/>
            </a:pPr>
            <a:r>
              <a:rPr lang="en-US" sz="1300" dirty="0">
                <a:solidFill>
                  <a:schemeClr val="tx1"/>
                </a:solidFill>
              </a:rPr>
              <a:t>site peak at 17:00 on 15 May: EV hub + HVAC + lighting together (our load model)</a:t>
            </a:r>
            <a:endParaRPr lang="en-US" sz="1300" dirty="0"/>
          </a:p>
        </p:txBody>
      </p:sp>
      <p:sp>
        <p:nvSpPr>
          <p:cNvPr id="5" name="stat of the site&amp;apos;s grid energy falls in the ToD peak hours (06-10, 18-22) when power costs the most"/>
          <p:cNvSpPr txBox="1"/>
          <p:nvPr/>
        </p:nvSpPr>
        <p:spPr>
          <a:xfrm>
            <a:off x="4343400" y="1371600"/>
            <a:ext cx="3474720" cy="685800"/>
          </a:xfrm>
          <a:prstGeom prst="rect">
            <a:avLst/>
          </a:prstGeom>
          <a:noFill/>
          <a:ln/>
        </p:spPr>
        <p:txBody>
          <a:bodyPr wrap="square" lIns="0" tIns="0" rIns="0" bIns="0" rtlCol="0" anchor="ctr"/>
          <a:lstStyle/>
          <a:p>
            <a:pPr indent="0" marL="0">
              <a:buNone/>
            </a:pPr>
            <a:r>
              <a:rPr lang="en-US" sz="3600" b="1" dirty="0">
                <a:solidFill>
                  <a:srgbClr val="EB6834"/>
                </a:solidFill>
                <a:latin typeface="Cambria" pitchFamily="34" charset="0"/>
                <a:ea typeface="Cambria" pitchFamily="34" charset="-122"/>
                <a:cs typeface="Cambria" pitchFamily="34" charset="-120"/>
              </a:rPr>
              <a:t>43.9 %</a:t>
            </a:r>
            <a:endParaRPr lang="en-US" sz="3600" dirty="0"/>
          </a:p>
        </p:txBody>
      </p:sp>
      <p:sp>
        <p:nvSpPr>
          <p:cNvPr id="6" name="Text 4"/>
          <p:cNvSpPr txBox="1"/>
          <p:nvPr/>
        </p:nvSpPr>
        <p:spPr>
          <a:xfrm>
            <a:off x="4343400" y="2057400"/>
            <a:ext cx="3474720" cy="548640"/>
          </a:xfrm>
          <a:prstGeom prst="rect">
            <a:avLst/>
          </a:prstGeom>
          <a:noFill/>
          <a:ln/>
        </p:spPr>
        <p:txBody>
          <a:bodyPr wrap="square" lIns="0" tIns="0" rIns="0" bIns="0" rtlCol="0" anchor="t"/>
          <a:lstStyle/>
          <a:p>
            <a:pPr indent="0" marL="0">
              <a:buNone/>
            </a:pPr>
            <a:r>
              <a:rPr lang="en-US" sz="1300" dirty="0">
                <a:solidFill>
                  <a:schemeClr val="tx1"/>
                </a:solidFill>
              </a:rPr>
              <a:t>of the site's grid energy falls in the ToD peak hours (06-10, 18-22) when power costs the most</a:t>
            </a:r>
            <a:endParaRPr lang="en-US" sz="1300" dirty="0"/>
          </a:p>
        </p:txBody>
      </p:sp>
      <p:sp>
        <p:nvSpPr>
          <p:cNvPr id="7" name="stat lowest voltage on the IEEE 33-bus feeder once 5 such sites draw from the grid, below the 0.91 pu (-9 %) limit"/>
          <p:cNvSpPr txBox="1"/>
          <p:nvPr/>
        </p:nvSpPr>
        <p:spPr>
          <a:xfrm>
            <a:off x="8138160" y="1371600"/>
            <a:ext cx="3474720" cy="685800"/>
          </a:xfrm>
          <a:prstGeom prst="rect">
            <a:avLst/>
          </a:prstGeom>
          <a:noFill/>
          <a:ln/>
        </p:spPr>
        <p:txBody>
          <a:bodyPr wrap="square" lIns="0" tIns="0" rIns="0" bIns="0" rtlCol="0" anchor="ctr"/>
          <a:lstStyle/>
          <a:p>
            <a:pPr indent="0" marL="0">
              <a:buNone/>
            </a:pPr>
            <a:r>
              <a:rPr lang="en-US" sz="3600" b="1" dirty="0">
                <a:solidFill>
                  <a:srgbClr val="EB6834"/>
                </a:solidFill>
                <a:latin typeface="Cambria" pitchFamily="34" charset="0"/>
                <a:ea typeface="Cambria" pitchFamily="34" charset="-122"/>
                <a:cs typeface="Cambria" pitchFamily="34" charset="-120"/>
              </a:rPr>
              <a:t>0.883 pu</a:t>
            </a:r>
            <a:endParaRPr lang="en-US" sz="3600" dirty="0"/>
          </a:p>
        </p:txBody>
      </p:sp>
      <p:sp>
        <p:nvSpPr>
          <p:cNvPr id="8" name="Text 6"/>
          <p:cNvSpPr txBox="1"/>
          <p:nvPr/>
        </p:nvSpPr>
        <p:spPr>
          <a:xfrm>
            <a:off x="8138160" y="2057400"/>
            <a:ext cx="3474720" cy="548640"/>
          </a:xfrm>
          <a:prstGeom prst="rect">
            <a:avLst/>
          </a:prstGeom>
          <a:noFill/>
          <a:ln/>
        </p:spPr>
        <p:txBody>
          <a:bodyPr wrap="square" lIns="0" tIns="0" rIns="0" bIns="0" rtlCol="0" anchor="t"/>
          <a:lstStyle/>
          <a:p>
            <a:pPr indent="0" marL="0">
              <a:buNone/>
            </a:pPr>
            <a:r>
              <a:rPr lang="en-US" sz="1300" dirty="0">
                <a:solidFill>
                  <a:schemeClr val="tx1"/>
                </a:solidFill>
              </a:rPr>
              <a:t>lowest voltage on the IEEE 33-bus feeder once 5 such sites draw from the grid, below the 0.91 pu (-9 %) limit</a:t>
            </a:r>
            <a:endParaRPr lang="en-US" sz="1300" dirty="0"/>
          </a:p>
        </p:txBody>
      </p:sp>
      <p:sp>
        <p:nvSpPr>
          <p:cNvPr id="9" name="Text 7"/>
          <p:cNvSpPr txBox="1"/>
          <p:nvPr/>
        </p:nvSpPr>
        <p:spPr>
          <a:xfrm>
            <a:off x="548640" y="3429000"/>
            <a:ext cx="11064240" cy="2743200"/>
          </a:xfrm>
          <a:prstGeom prst="rect">
            <a:avLst/>
          </a:prstGeom>
          <a:noFill/>
          <a:ln/>
        </p:spPr>
        <p:txBody>
          <a:bodyPr wrap="square" lIns="635" tIns="635" rIns="635" bIns="635" rtlCol="0" anchor="t"/>
          <a:lstStyle/>
          <a:p>
            <a:pPr marL="342900" indent="-342900">
              <a:spcAft>
                <a:spcPts val="600"/>
              </a:spcAft>
              <a:buSzPct val="100000"/>
              <a:buChar char="•"/>
            </a:pPr>
            <a:r>
              <a:rPr lang="en-US" sz="1900" dirty="0">
                <a:solidFill>
                  <a:schemeClr val="tx1"/>
                </a:solidFill>
              </a:rPr>
              <a:t>EV charging is bursty and lands on the evening peak, exactly when air-conditioning and lighting peak too</a:t>
            </a:r>
            <a:endParaRPr lang="en-US" sz="1900" dirty="0"/>
          </a:p>
          <a:p>
            <a:pPr marL="342900" indent="-342900">
              <a:spcAft>
                <a:spcPts val="600"/>
              </a:spcAft>
              <a:buSzPct val="100000"/>
              <a:buChar char="•"/>
            </a:pPr>
            <a:r>
              <a:rPr lang="en-US" sz="1900" dirty="0">
                <a:solidFill>
                  <a:schemeClr val="tx1"/>
                </a:solidFill>
              </a:rPr>
              <a:t>Solar is available at noon, demand peaks in the evening: without storage and coordination the mismatch goes to the grid</a:t>
            </a:r>
            <a:endParaRPr lang="en-US" sz="1900" dirty="0"/>
          </a:p>
          <a:p>
            <a:pPr marL="342900" indent="-342900">
              <a:spcAft>
                <a:spcPts val="600"/>
              </a:spcAft>
              <a:buSzPct val="100000"/>
              <a:buChar char="•"/>
            </a:pPr>
            <a:r>
              <a:rPr lang="en-US" sz="1900" dirty="0">
                <a:solidFill>
                  <a:schemeClr val="tx1"/>
                </a:solidFill>
              </a:rPr>
              <a:t>Fixed rules ("charge on surplus, discharge on deficit") empty the battery before the evening peak arrives</a:t>
            </a:r>
            <a:endParaRPr lang="en-US" sz="1900" dirty="0"/>
          </a:p>
          <a:p>
            <a:pPr marL="342900" indent="-342900">
              <a:spcAft>
                <a:spcPts val="600"/>
              </a:spcAft>
              <a:buSzPct val="100000"/>
              <a:buChar char="•"/>
            </a:pPr>
            <a:r>
              <a:rPr lang="en-US" sz="1900" dirty="0">
                <a:solidFill>
                  <a:schemeClr val="tx1"/>
                </a:solidFill>
              </a:rPr>
              <a:t>Utilities see higher peak demand, losses and voltage drop; consumers see higher bills and CO2</a:t>
            </a:r>
            <a:endParaRPr lang="en-US" sz="19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Objectives</a:t>
            </a:r>
            <a:endParaRPr lang="en-US" sz="3000" dirty="0"/>
          </a:p>
        </p:txBody>
      </p:sp>
      <p:sp>
        <p:nvSpPr>
          <p:cNvPr id="3" name="Shape 1"/>
          <p:cNvSpPr/>
          <p:nvPr/>
        </p:nvSpPr>
        <p:spPr>
          <a:xfrm>
            <a:off x="548640" y="1325880"/>
            <a:ext cx="5440680" cy="1463040"/>
          </a:xfrm>
          <a:prstGeom prst="roundRect">
            <a:avLst>
              <a:gd name="adj" fmla="val 5000"/>
            </a:avLst>
          </a:prstGeom>
          <a:solidFill>
            <a:schemeClr val="bg2"/>
          </a:solidFill>
          <a:ln/>
        </p:spPr>
      </p:sp>
      <p:sp>
        <p:nvSpPr>
          <p:cNvPr id="4" name="Shape 2"/>
          <p:cNvSpPr/>
          <p:nvPr/>
        </p:nvSpPr>
        <p:spPr>
          <a:xfrm>
            <a:off x="731520" y="1508760"/>
            <a:ext cx="457200" cy="457200"/>
          </a:xfrm>
          <a:prstGeom prst="ellipse">
            <a:avLst/>
          </a:prstGeom>
          <a:solidFill>
            <a:srgbClr val="F2A900"/>
          </a:solidFill>
          <a:ln/>
        </p:spPr>
      </p:sp>
      <p:sp>
        <p:nvSpPr>
          <p:cNvPr id="5" name="Text 3"/>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6" name="Text 4"/>
          <p:cNvSpPr txBox="1"/>
          <p:nvPr/>
        </p:nvSpPr>
        <p:spPr>
          <a:xfrm>
            <a:off x="1325880" y="1481328"/>
            <a:ext cx="4526280" cy="502920"/>
          </a:xfrm>
          <a:prstGeom prst="rect">
            <a:avLst/>
          </a:prstGeom>
          <a:noFill/>
          <a:ln/>
        </p:spPr>
        <p:txBody>
          <a:bodyPr wrap="square" lIns="0" tIns="0" rIns="0" bIns="0" rtlCol="0" anchor="ctr"/>
          <a:lstStyle/>
          <a:p>
            <a:pPr indent="0" marL="0">
              <a:buNone/>
            </a:pPr>
            <a:r>
              <a:rPr lang="en-US" sz="1600" b="1" dirty="0">
                <a:solidFill>
                  <a:schemeClr val="tx2"/>
                </a:solidFill>
              </a:rPr>
              <a:t>Real, localised data</a:t>
            </a:r>
            <a:endParaRPr lang="en-US" sz="1600" dirty="0"/>
          </a:p>
        </p:txBody>
      </p:sp>
      <p:sp>
        <p:nvSpPr>
          <p:cNvPr id="7" name="Text 5"/>
          <p:cNvSpPr txBox="1"/>
          <p:nvPr/>
        </p:nvSpPr>
        <p:spPr>
          <a:xfrm>
            <a:off x="777240" y="2103120"/>
            <a:ext cx="5029200" cy="548640"/>
          </a:xfrm>
          <a:prstGeom prst="rect">
            <a:avLst/>
          </a:prstGeom>
          <a:noFill/>
          <a:ln/>
        </p:spPr>
        <p:txBody>
          <a:bodyPr wrap="square" lIns="0" tIns="0" rIns="0" bIns="0" rtlCol="0" anchor="t"/>
          <a:lstStyle/>
          <a:p>
            <a:pPr indent="0" marL="0">
              <a:buNone/>
            </a:pPr>
            <a:r>
              <a:rPr lang="en-US" sz="1350" dirty="0">
                <a:solidFill>
                  <a:schemeClr val="tx1"/>
                </a:solidFill>
              </a:rPr>
              <a:t>Hourly PVGIS solar/wind/temperature for Hyderabad, TGERC Time-of-Day tariff, CEA grid CO2 factor</a:t>
            </a:r>
            <a:endParaRPr lang="en-US" sz="1350" dirty="0"/>
          </a:p>
        </p:txBody>
      </p:sp>
      <p:sp>
        <p:nvSpPr>
          <p:cNvPr id="8" name="Shape 6"/>
          <p:cNvSpPr/>
          <p:nvPr/>
        </p:nvSpPr>
        <p:spPr>
          <a:xfrm>
            <a:off x="6172200" y="1325880"/>
            <a:ext cx="5440680" cy="1463040"/>
          </a:xfrm>
          <a:prstGeom prst="roundRect">
            <a:avLst>
              <a:gd name="adj" fmla="val 5000"/>
            </a:avLst>
          </a:prstGeom>
          <a:solidFill>
            <a:schemeClr val="bg2"/>
          </a:solidFill>
          <a:ln/>
        </p:spPr>
      </p:sp>
      <p:sp>
        <p:nvSpPr>
          <p:cNvPr id="9" name="Shape 7"/>
          <p:cNvSpPr/>
          <p:nvPr/>
        </p:nvSpPr>
        <p:spPr>
          <a:xfrm>
            <a:off x="6355080" y="1508760"/>
            <a:ext cx="457200" cy="457200"/>
          </a:xfrm>
          <a:prstGeom prst="ellipse">
            <a:avLst/>
          </a:prstGeom>
          <a:solidFill>
            <a:srgbClr val="F2A900"/>
          </a:solidFill>
          <a:ln/>
        </p:spPr>
      </p:sp>
      <p:sp>
        <p:nvSpPr>
          <p:cNvPr id="10" name="Text 8"/>
          <p:cNvSpPr txBox="1"/>
          <p:nvPr/>
        </p:nvSpPr>
        <p:spPr>
          <a:xfrm>
            <a:off x="6355080" y="150876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1" name="Text 9"/>
          <p:cNvSpPr txBox="1"/>
          <p:nvPr/>
        </p:nvSpPr>
        <p:spPr>
          <a:xfrm>
            <a:off x="6949440" y="1481328"/>
            <a:ext cx="4526280" cy="502920"/>
          </a:xfrm>
          <a:prstGeom prst="rect">
            <a:avLst/>
          </a:prstGeom>
          <a:noFill/>
          <a:ln/>
        </p:spPr>
        <p:txBody>
          <a:bodyPr wrap="square" lIns="0" tIns="0" rIns="0" bIns="0" rtlCol="0" anchor="ctr"/>
          <a:lstStyle/>
          <a:p>
            <a:pPr indent="0" marL="0">
              <a:buNone/>
            </a:pPr>
            <a:r>
              <a:rPr lang="en-US" sz="1600" b="1" dirty="0">
                <a:solidFill>
                  <a:schemeClr val="tx2"/>
                </a:solidFill>
              </a:rPr>
              <a:t>Forecast tomorrow</a:t>
            </a:r>
            <a:endParaRPr lang="en-US" sz="1600" dirty="0"/>
          </a:p>
        </p:txBody>
      </p:sp>
      <p:sp>
        <p:nvSpPr>
          <p:cNvPr id="12" name="Text 10"/>
          <p:cNvSpPr txBox="1"/>
          <p:nvPr/>
        </p:nvSpPr>
        <p:spPr>
          <a:xfrm>
            <a:off x="6400800" y="2103120"/>
            <a:ext cx="5029200" cy="548640"/>
          </a:xfrm>
          <a:prstGeom prst="rect">
            <a:avLst/>
          </a:prstGeom>
          <a:noFill/>
          <a:ln/>
        </p:spPr>
        <p:txBody>
          <a:bodyPr wrap="square" lIns="0" tIns="0" rIns="0" bIns="0" rtlCol="0" anchor="t"/>
          <a:lstStyle/>
          <a:p>
            <a:pPr indent="0" marL="0">
              <a:buNone/>
            </a:pPr>
            <a:r>
              <a:rPr lang="en-US" sz="1350" dirty="0">
                <a:solidFill>
                  <a:schemeClr val="tx1"/>
                </a:solidFill>
              </a:rPr>
              <a:t>Machine-learning model predicts next-day hourly demand of EV + appliance loads</a:t>
            </a:r>
            <a:endParaRPr lang="en-US" sz="1350" dirty="0"/>
          </a:p>
        </p:txBody>
      </p:sp>
      <p:sp>
        <p:nvSpPr>
          <p:cNvPr id="13" name="Shape 11"/>
          <p:cNvSpPr/>
          <p:nvPr/>
        </p:nvSpPr>
        <p:spPr>
          <a:xfrm>
            <a:off x="548640" y="2971800"/>
            <a:ext cx="5440680" cy="1463040"/>
          </a:xfrm>
          <a:prstGeom prst="roundRect">
            <a:avLst>
              <a:gd name="adj" fmla="val 5000"/>
            </a:avLst>
          </a:prstGeom>
          <a:solidFill>
            <a:schemeClr val="bg2"/>
          </a:solidFill>
          <a:ln/>
        </p:spPr>
      </p:sp>
      <p:sp>
        <p:nvSpPr>
          <p:cNvPr id="14" name="Shape 12"/>
          <p:cNvSpPr/>
          <p:nvPr/>
        </p:nvSpPr>
        <p:spPr>
          <a:xfrm>
            <a:off x="731520" y="3154680"/>
            <a:ext cx="457200" cy="457200"/>
          </a:xfrm>
          <a:prstGeom prst="ellipse">
            <a:avLst/>
          </a:prstGeom>
          <a:solidFill>
            <a:srgbClr val="F2A900"/>
          </a:solidFill>
          <a:ln/>
        </p:spPr>
      </p:sp>
      <p:sp>
        <p:nvSpPr>
          <p:cNvPr id="15" name="Text 13"/>
          <p:cNvSpPr txBox="1"/>
          <p:nvPr/>
        </p:nvSpPr>
        <p:spPr>
          <a:xfrm>
            <a:off x="731520" y="315468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6" name="Text 14"/>
          <p:cNvSpPr txBox="1"/>
          <p:nvPr/>
        </p:nvSpPr>
        <p:spPr>
          <a:xfrm>
            <a:off x="1325880" y="3127248"/>
            <a:ext cx="4526280" cy="502920"/>
          </a:xfrm>
          <a:prstGeom prst="rect">
            <a:avLst/>
          </a:prstGeom>
          <a:noFill/>
          <a:ln/>
        </p:spPr>
        <p:txBody>
          <a:bodyPr wrap="square" lIns="0" tIns="0" rIns="0" bIns="0" rtlCol="0" anchor="ctr"/>
          <a:lstStyle/>
          <a:p>
            <a:pPr indent="0" marL="0">
              <a:buNone/>
            </a:pPr>
            <a:r>
              <a:rPr lang="en-US" sz="1600" b="1" dirty="0">
                <a:solidFill>
                  <a:schemeClr val="tx2"/>
                </a:solidFill>
              </a:rPr>
              <a:t>Optimise power sharing</a:t>
            </a:r>
            <a:endParaRPr lang="en-US" sz="1600" dirty="0"/>
          </a:p>
        </p:txBody>
      </p:sp>
      <p:sp>
        <p:nvSpPr>
          <p:cNvPr id="17" name="Text 15"/>
          <p:cNvSpPr txBox="1"/>
          <p:nvPr/>
        </p:nvSpPr>
        <p:spPr>
          <a:xfrm>
            <a:off x="777240" y="3749040"/>
            <a:ext cx="5029200" cy="548640"/>
          </a:xfrm>
          <a:prstGeom prst="rect">
            <a:avLst/>
          </a:prstGeom>
          <a:noFill/>
          <a:ln/>
        </p:spPr>
        <p:txBody>
          <a:bodyPr wrap="square" lIns="0" tIns="0" rIns="0" bIns="0" rtlCol="0" anchor="t"/>
          <a:lstStyle/>
          <a:p>
            <a:pPr indent="0" marL="0">
              <a:buNone/>
            </a:pPr>
            <a:r>
              <a:rPr lang="en-US" sz="1350" dirty="0">
                <a:solidFill>
                  <a:schemeClr val="tx1"/>
                </a:solidFill>
              </a:rPr>
              <a:t>GA and PSO decide the hourly PV-battery-grid schedule with adaptive cost / peak / CO2 priorities</a:t>
            </a:r>
            <a:endParaRPr lang="en-US" sz="1350" dirty="0"/>
          </a:p>
        </p:txBody>
      </p:sp>
      <p:sp>
        <p:nvSpPr>
          <p:cNvPr id="18" name="Shape 16"/>
          <p:cNvSpPr/>
          <p:nvPr/>
        </p:nvSpPr>
        <p:spPr>
          <a:xfrm>
            <a:off x="6172200" y="2971800"/>
            <a:ext cx="5440680" cy="1463040"/>
          </a:xfrm>
          <a:prstGeom prst="roundRect">
            <a:avLst>
              <a:gd name="adj" fmla="val 5000"/>
            </a:avLst>
          </a:prstGeom>
          <a:solidFill>
            <a:schemeClr val="bg2"/>
          </a:solidFill>
          <a:ln/>
        </p:spPr>
      </p:sp>
      <p:sp>
        <p:nvSpPr>
          <p:cNvPr id="19" name="Shape 17"/>
          <p:cNvSpPr/>
          <p:nvPr/>
        </p:nvSpPr>
        <p:spPr>
          <a:xfrm>
            <a:off x="6355080" y="3154680"/>
            <a:ext cx="457200" cy="457200"/>
          </a:xfrm>
          <a:prstGeom prst="ellipse">
            <a:avLst/>
          </a:prstGeom>
          <a:solidFill>
            <a:srgbClr val="F2A900"/>
          </a:solidFill>
          <a:ln/>
        </p:spPr>
      </p:sp>
      <p:sp>
        <p:nvSpPr>
          <p:cNvPr id="20" name="Text 18"/>
          <p:cNvSpPr txBox="1"/>
          <p:nvPr/>
        </p:nvSpPr>
        <p:spPr>
          <a:xfrm>
            <a:off x="6355080" y="315468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21" name="Text 19"/>
          <p:cNvSpPr txBox="1"/>
          <p:nvPr/>
        </p:nvSpPr>
        <p:spPr>
          <a:xfrm>
            <a:off x="6949440" y="3127248"/>
            <a:ext cx="4526280" cy="502920"/>
          </a:xfrm>
          <a:prstGeom prst="rect">
            <a:avLst/>
          </a:prstGeom>
          <a:noFill/>
          <a:ln/>
        </p:spPr>
        <p:txBody>
          <a:bodyPr wrap="square" lIns="0" tIns="0" rIns="0" bIns="0" rtlCol="0" anchor="ctr"/>
          <a:lstStyle/>
          <a:p>
            <a:pPr indent="0" marL="0">
              <a:buNone/>
            </a:pPr>
            <a:r>
              <a:rPr lang="en-US" sz="1600" b="1" dirty="0">
                <a:solidFill>
                  <a:schemeClr val="tx2"/>
                </a:solidFill>
              </a:rPr>
              <a:t>Optimise sizing</a:t>
            </a:r>
            <a:endParaRPr lang="en-US" sz="1600" dirty="0"/>
          </a:p>
        </p:txBody>
      </p:sp>
      <p:sp>
        <p:nvSpPr>
          <p:cNvPr id="22" name="Text 20"/>
          <p:cNvSpPr txBox="1"/>
          <p:nvPr/>
        </p:nvSpPr>
        <p:spPr>
          <a:xfrm>
            <a:off x="6400800" y="3749040"/>
            <a:ext cx="5029200" cy="548640"/>
          </a:xfrm>
          <a:prstGeom prst="rect">
            <a:avLst/>
          </a:prstGeom>
          <a:noFill/>
          <a:ln/>
        </p:spPr>
        <p:txBody>
          <a:bodyPr wrap="square" lIns="0" tIns="0" rIns="0" bIns="0" rtlCol="0" anchor="t"/>
          <a:lstStyle/>
          <a:p>
            <a:pPr indent="0" marL="0">
              <a:buNone/>
            </a:pPr>
            <a:r>
              <a:rPr lang="en-US" sz="1350" dirty="0">
                <a:solidFill>
                  <a:schemeClr val="tx1"/>
                </a:solidFill>
              </a:rPr>
              <a:t>GA and PSO choose PV kWp, battery kWh and wind kW on a full-year simulation</a:t>
            </a:r>
            <a:endParaRPr lang="en-US" sz="1350" dirty="0"/>
          </a:p>
        </p:txBody>
      </p:sp>
      <p:sp>
        <p:nvSpPr>
          <p:cNvPr id="23" name="Shape 21"/>
          <p:cNvSpPr/>
          <p:nvPr/>
        </p:nvSpPr>
        <p:spPr>
          <a:xfrm>
            <a:off x="548640" y="4617720"/>
            <a:ext cx="5440680" cy="1463040"/>
          </a:xfrm>
          <a:prstGeom prst="roundRect">
            <a:avLst>
              <a:gd name="adj" fmla="val 5000"/>
            </a:avLst>
          </a:prstGeom>
          <a:solidFill>
            <a:schemeClr val="bg2"/>
          </a:solidFill>
          <a:ln/>
        </p:spPr>
      </p:sp>
      <p:sp>
        <p:nvSpPr>
          <p:cNvPr id="24" name="Shape 22"/>
          <p:cNvSpPr/>
          <p:nvPr/>
        </p:nvSpPr>
        <p:spPr>
          <a:xfrm>
            <a:off x="731520" y="4800600"/>
            <a:ext cx="457200" cy="457200"/>
          </a:xfrm>
          <a:prstGeom prst="ellipse">
            <a:avLst/>
          </a:prstGeom>
          <a:solidFill>
            <a:srgbClr val="F2A900"/>
          </a:solidFill>
          <a:ln/>
        </p:spPr>
      </p:sp>
      <p:sp>
        <p:nvSpPr>
          <p:cNvPr id="25" name="Text 23"/>
          <p:cNvSpPr txBox="1"/>
          <p:nvPr/>
        </p:nvSpPr>
        <p:spPr>
          <a:xfrm>
            <a:off x="731520" y="480060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5</a:t>
            </a:r>
            <a:endParaRPr lang="en-US" sz="1600" dirty="0"/>
          </a:p>
        </p:txBody>
      </p:sp>
      <p:sp>
        <p:nvSpPr>
          <p:cNvPr id="26" name="Text 24"/>
          <p:cNvSpPr txBox="1"/>
          <p:nvPr/>
        </p:nvSpPr>
        <p:spPr>
          <a:xfrm>
            <a:off x="1325880" y="4773168"/>
            <a:ext cx="4526280" cy="502920"/>
          </a:xfrm>
          <a:prstGeom prst="rect">
            <a:avLst/>
          </a:prstGeom>
          <a:noFill/>
          <a:ln/>
        </p:spPr>
        <p:txBody>
          <a:bodyPr wrap="square" lIns="0" tIns="0" rIns="0" bIns="0" rtlCol="0" anchor="ctr"/>
          <a:lstStyle/>
          <a:p>
            <a:pPr indent="0" marL="0">
              <a:buNone/>
            </a:pPr>
            <a:r>
              <a:rPr lang="en-US" sz="1600" b="1" dirty="0">
                <a:solidFill>
                  <a:schemeClr val="tx2"/>
                </a:solidFill>
              </a:rPr>
              <a:t>Validate on the grid</a:t>
            </a:r>
            <a:endParaRPr lang="en-US" sz="1600" dirty="0"/>
          </a:p>
        </p:txBody>
      </p:sp>
      <p:sp>
        <p:nvSpPr>
          <p:cNvPr id="27" name="Text 25"/>
          <p:cNvSpPr txBox="1"/>
          <p:nvPr/>
        </p:nvSpPr>
        <p:spPr>
          <a:xfrm>
            <a:off x="777240" y="5394960"/>
            <a:ext cx="5029200" cy="548640"/>
          </a:xfrm>
          <a:prstGeom prst="rect">
            <a:avLst/>
          </a:prstGeom>
          <a:noFill/>
          <a:ln/>
        </p:spPr>
        <p:txBody>
          <a:bodyPr wrap="square" lIns="0" tIns="0" rIns="0" bIns="0" rtlCol="0" anchor="t"/>
          <a:lstStyle/>
          <a:p>
            <a:pPr indent="0" marL="0">
              <a:buNone/>
            </a:pPr>
            <a:r>
              <a:rPr lang="en-US" sz="1350" dirty="0">
                <a:solidFill>
                  <a:schemeClr val="tx1"/>
                </a:solidFill>
              </a:rPr>
              <a:t>Load flow on the IEEE 33-bus and 69-bus feeders: voltage, losses, substation peak</a:t>
            </a:r>
            <a:endParaRPr lang="en-US" sz="1350" dirty="0"/>
          </a:p>
        </p:txBody>
      </p:sp>
      <p:sp>
        <p:nvSpPr>
          <p:cNvPr id="28" name="Shape 26"/>
          <p:cNvSpPr/>
          <p:nvPr/>
        </p:nvSpPr>
        <p:spPr>
          <a:xfrm>
            <a:off x="6172200" y="4617720"/>
            <a:ext cx="5440680" cy="1463040"/>
          </a:xfrm>
          <a:prstGeom prst="roundRect">
            <a:avLst>
              <a:gd name="adj" fmla="val 5000"/>
            </a:avLst>
          </a:prstGeom>
          <a:solidFill>
            <a:schemeClr val="bg2"/>
          </a:solidFill>
          <a:ln/>
        </p:spPr>
      </p:sp>
      <p:sp>
        <p:nvSpPr>
          <p:cNvPr id="29" name="Shape 27"/>
          <p:cNvSpPr/>
          <p:nvPr/>
        </p:nvSpPr>
        <p:spPr>
          <a:xfrm>
            <a:off x="6355080" y="4800600"/>
            <a:ext cx="457200" cy="457200"/>
          </a:xfrm>
          <a:prstGeom prst="ellipse">
            <a:avLst/>
          </a:prstGeom>
          <a:solidFill>
            <a:srgbClr val="F2A900"/>
          </a:solidFill>
          <a:ln/>
        </p:spPr>
      </p:sp>
      <p:sp>
        <p:nvSpPr>
          <p:cNvPr id="30" name="Text 28"/>
          <p:cNvSpPr txBox="1"/>
          <p:nvPr/>
        </p:nvSpPr>
        <p:spPr>
          <a:xfrm>
            <a:off x="6355080" y="480060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6</a:t>
            </a:r>
            <a:endParaRPr lang="en-US" sz="1600" dirty="0"/>
          </a:p>
        </p:txBody>
      </p:sp>
      <p:sp>
        <p:nvSpPr>
          <p:cNvPr id="31" name="Text 29"/>
          <p:cNvSpPr txBox="1"/>
          <p:nvPr/>
        </p:nvSpPr>
        <p:spPr>
          <a:xfrm>
            <a:off x="6949440" y="4773168"/>
            <a:ext cx="4526280" cy="502920"/>
          </a:xfrm>
          <a:prstGeom prst="rect">
            <a:avLst/>
          </a:prstGeom>
          <a:noFill/>
          <a:ln/>
        </p:spPr>
        <p:txBody>
          <a:bodyPr wrap="square" lIns="0" tIns="0" rIns="0" bIns="0" rtlCol="0" anchor="ctr"/>
          <a:lstStyle/>
          <a:p>
            <a:pPr indent="0" marL="0">
              <a:buNone/>
            </a:pPr>
            <a:r>
              <a:rPr lang="en-US" sz="1600" b="1" dirty="0">
                <a:solidFill>
                  <a:schemeClr val="tx2"/>
                </a:solidFill>
              </a:rPr>
              <a:t>Report KPIs</a:t>
            </a:r>
            <a:endParaRPr lang="en-US" sz="1600" dirty="0"/>
          </a:p>
        </p:txBody>
      </p:sp>
      <p:sp>
        <p:nvSpPr>
          <p:cNvPr id="32" name="Text 30"/>
          <p:cNvSpPr txBox="1"/>
          <p:nvPr/>
        </p:nvSpPr>
        <p:spPr>
          <a:xfrm>
            <a:off x="6400800" y="5394960"/>
            <a:ext cx="5029200" cy="548640"/>
          </a:xfrm>
          <a:prstGeom prst="rect">
            <a:avLst/>
          </a:prstGeom>
          <a:noFill/>
          <a:ln/>
        </p:spPr>
        <p:txBody>
          <a:bodyPr wrap="square" lIns="0" tIns="0" rIns="0" bIns="0" rtlCol="0" anchor="t"/>
          <a:lstStyle/>
          <a:p>
            <a:pPr indent="0" marL="0">
              <a:buNone/>
            </a:pPr>
            <a:r>
              <a:rPr lang="en-US" sz="1350" dirty="0">
                <a:solidFill>
                  <a:schemeClr val="tx1"/>
                </a:solidFill>
              </a:rPr>
              <a:t>Energy cost, peak demand, CO2 emissions and reliability during grid outages</a:t>
            </a:r>
            <a:endParaRPr lang="en-US" sz="13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From the base paper (ReBIS) to Adaptive-ReBIS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206240"/>
                <a:gridCol w="6858000"/>
              </a:tblGrid>
              <a:tr h="566928">
                <a:tc>
                  <a:txBody>
                    <a:bodyPr/>
                    <a:lstStyle/>
                    <a:p>
                      <a:pPr indent="0" marL="0">
                        <a:buNone/>
                      </a:pPr>
                      <a:r>
                        <a:rPr lang="en-US" sz="1400" b="1" dirty="0">
                          <a:solidFill>
                            <a:srgbClr val="FFFFFF"/>
                          </a:solidFill>
                        </a:rPr>
                        <a:t>Limitation in the base work</a:t>
                      </a:r>
                      <a:endParaRPr lang="en-US" sz="1400" dirty="0"/>
                    </a:p>
                  </a:txBody>
                  <a:tcPr marL="91440" marR="91440" marT="45720" marB="4572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F2236"/>
                    </a:solidFill>
                  </a:tcPr>
                </a:tc>
                <a:tc>
                  <a:txBody>
                    <a:bodyPr/>
                    <a:lstStyle/>
                    <a:p>
                      <a:pPr indent="0" marL="0">
                        <a:buNone/>
                      </a:pPr>
                      <a:r>
                        <a:rPr lang="en-US" sz="1400" b="1" dirty="0">
                          <a:solidFill>
                            <a:srgbClr val="FFFFFF"/>
                          </a:solidFill>
                        </a:rPr>
                        <a:t>What Adaptive-ReBIS adds</a:t>
                      </a:r>
                      <a:endParaRPr lang="en-US" sz="1400" dirty="0"/>
                    </a:p>
                  </a:txBody>
                  <a:tcPr marL="91440" marR="91440" marT="45720" marB="4572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F2236"/>
                    </a:solidFill>
                  </a:tcPr>
                </a:tc>
              </a:tr>
              <a:tr h="566928">
                <a:tc>
                  <a:txBody>
                    <a:bodyPr/>
                    <a:lstStyle/>
                    <a:p>
                      <a:pPr indent="0" marL="0">
                        <a:buNone/>
                      </a:pPr>
                      <a:r>
                        <a:rPr lang="en-US" sz="1400" dirty="0">
                          <a:solidFill>
                            <a:srgbClr val="1B1B1B"/>
                          </a:solidFill>
                        </a:rPr>
                        <a:t>Single EV-station application</a:t>
                      </a:r>
                      <a:endParaRPr lang="en-US" sz="1400" dirty="0"/>
                    </a:p>
                  </a:txBody>
                  <a:tcPr marL="91440" marR="91440" marT="45720" marB="4572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400" dirty="0">
                          <a:solidFill>
                            <a:srgbClr val="1B1B1B"/>
                          </a:solidFill>
                        </a:rPr>
                        <a:t>One EMS for EV hub + HVAC + water heaters + general load behind one meter</a:t>
                      </a:r>
                      <a:endParaRPr lang="en-US" sz="1400" dirty="0"/>
                    </a:p>
                  </a:txBody>
                  <a:tcPr marL="91440" marR="91440" marT="45720" marB="4572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1B1B"/>
                          </a:solidFill>
                        </a:rPr>
                        <a:t>Fixed, equal objective weights all day</a:t>
                      </a:r>
                      <a:endParaRPr lang="en-US" sz="1400" dirty="0"/>
                    </a:p>
                  </a:txBody>
                  <a:tcPr marL="91440" marR="91440" marT="45720" marB="4572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400" dirty="0">
                          <a:solidFill>
                            <a:srgbClr val="1B1B1B"/>
                          </a:solidFill>
                        </a:rPr>
                        <a:t>Hour-dependent (adaptive) weights on cost / peak / CO2 following the ToD windows</a:t>
                      </a:r>
                      <a:endParaRPr lang="en-US" sz="1400" dirty="0"/>
                    </a:p>
                  </a:txBody>
                  <a:tcPr marL="91440" marR="91440" marT="45720" marB="4572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1B1B"/>
                          </a:solidFill>
                        </a:rPr>
                        <a:t>Hand-tuned demand, no forecasting</a:t>
                      </a:r>
                      <a:endParaRPr lang="en-US" sz="1400" dirty="0"/>
                    </a:p>
                  </a:txBody>
                  <a:tcPr marL="91440" marR="91440" marT="45720" marB="4572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400" dirty="0">
                          <a:solidFill>
                            <a:srgbClr val="1B1B1B"/>
                          </a:solidFill>
                        </a:rPr>
                        <a:t>ML day-ahead demand forecast (4 models vs 2 baselines, out-of-sample)</a:t>
                      </a:r>
                      <a:endParaRPr lang="en-US" sz="1400" dirty="0"/>
                    </a:p>
                  </a:txBody>
                  <a:tcPr marL="91440" marR="91440" marT="45720" marB="4572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1B1B"/>
                          </a:solidFill>
                        </a:rPr>
                        <a:t>Fixed rule-based dispatch</a:t>
                      </a:r>
                      <a:endParaRPr lang="en-US" sz="1400" dirty="0"/>
                    </a:p>
                  </a:txBody>
                  <a:tcPr marL="91440" marR="91440" marT="45720" marB="4572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400" dirty="0">
                          <a:solidFill>
                            <a:srgbClr val="1B1B1B"/>
                          </a:solidFill>
                        </a:rPr>
                        <a:t>GA / PSO day-ahead schedule + real-time correction for forecast error</a:t>
                      </a:r>
                      <a:endParaRPr lang="en-US" sz="1400" dirty="0"/>
                    </a:p>
                  </a:txBody>
                  <a:tcPr marL="91440" marR="91440" marT="45720" marB="4572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1B1B"/>
                          </a:solidFill>
                        </a:rPr>
                        <a:t>PV / battery sized manually</a:t>
                      </a:r>
                      <a:endParaRPr lang="en-US" sz="1400" dirty="0"/>
                    </a:p>
                  </a:txBody>
                  <a:tcPr marL="91440" marR="91440" marT="45720" marB="4572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400" dirty="0">
                          <a:solidFill>
                            <a:srgbClr val="1B1B1B"/>
                          </a:solidFill>
                        </a:rPr>
                        <a:t>GA and PSO joint sizing of PV, battery and wind on 8784 hours</a:t>
                      </a:r>
                      <a:endParaRPr lang="en-US" sz="1400" dirty="0"/>
                    </a:p>
                  </a:txBody>
                  <a:tcPr marL="91440" marR="91440" marT="45720" marB="4572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1B1B"/>
                          </a:solidFill>
                        </a:rPr>
                        <a:t>Australian tariff and data</a:t>
                      </a:r>
                      <a:endParaRPr lang="en-US" sz="1400" dirty="0"/>
                    </a:p>
                  </a:txBody>
                  <a:tcPr marL="91440" marR="91440" marT="45720" marB="4572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400" dirty="0">
                          <a:solidFill>
                            <a:srgbClr val="1B1B1B"/>
                          </a:solidFill>
                        </a:rPr>
                        <a:t>Indian data: PVGIS Hyderabad, TGERC ToD tariff, CEA CO2 factor</a:t>
                      </a:r>
                      <a:endParaRPr lang="en-US" sz="1400" dirty="0"/>
                    </a:p>
                  </a:txBody>
                  <a:tcPr marL="91440" marR="91440" marT="45720" marB="4572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1B1B"/>
                          </a:solidFill>
                        </a:rPr>
                        <a:t>No network-level check</a:t>
                      </a:r>
                      <a:endParaRPr lang="en-US" sz="1400" dirty="0"/>
                    </a:p>
                  </a:txBody>
                  <a:tcPr marL="91440" marR="91440" marT="45720" marB="4572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400" dirty="0">
                          <a:solidFill>
                            <a:srgbClr val="1B1B1B"/>
                          </a:solidFill>
                        </a:rPr>
                        <a:t>IEEE 33-bus and 69-bus annual load flow (voltage, losses, peak)</a:t>
                      </a:r>
                      <a:endParaRPr lang="en-US" sz="1400" dirty="0"/>
                    </a:p>
                  </a:txBody>
                  <a:tcPr marL="91440" marR="91440" marT="45720" marB="4572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989320"/>
            <a:ext cx="11064240" cy="411480"/>
          </a:xfrm>
          <a:prstGeom prst="rect">
            <a:avLst/>
          </a:prstGeom>
          <a:noFill/>
          <a:ln/>
        </p:spPr>
        <p:txBody>
          <a:bodyPr wrap="square" lIns="0" tIns="0" rIns="0" bIns="0" rtlCol="0" anchor="ctr"/>
          <a:lstStyle/>
          <a:p>
            <a:pPr indent="0" marL="0">
              <a:buNone/>
            </a:pPr>
            <a:r>
              <a:rPr lang="en-US" sz="1000" dirty="0">
                <a:solidFill>
                  <a:srgbClr val="8A8984"/>
                </a:solidFill>
              </a:rPr>
              <a:t>Base paper: A. U. Rehman, J. Lu, B. Du, F. Bai, M. J. Sanjari, "Efficient management of electric vehicle charging stations: balancing user preferences and grid demands with energy storage systems and renewable energy", Applied Energy, vol. 393, 2025, 126147.</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System architecture</a:t>
            </a:r>
            <a:endParaRPr lang="en-US" sz="3000" dirty="0"/>
          </a:p>
        </p:txBody>
      </p:sp>
      <p:pic>
        <p:nvPicPr>
          <p:cNvPr id="3" name="Architecture diagram" descr="Architecture diagram">    </p:cNvPr>
          <p:cNvPicPr>
            <a:picLocks noChangeAspect="1"/>
          </p:cNvPicPr>
          <p:nvPr/>
        </p:nvPicPr>
        <p:blipFill>
          <a:blip r:embed="rId1"/>
          <a:stretch>
            <a:fillRect/>
          </a:stretch>
        </p:blipFill>
        <p:spPr>
          <a:xfrm>
            <a:off x="548640" y="1188720"/>
            <a:ext cx="11064240" cy="4981245"/>
          </a:xfrm>
          <a:prstGeom prst="rect">
            <a:avLst/>
          </a:prstGeom>
        </p:spPr>
      </p:pic>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Real input data for Hyderabad</a:t>
            </a:r>
            <a:endParaRPr lang="en-US" sz="3000" dirty="0"/>
          </a:p>
        </p:txBody>
      </p:sp>
      <p:pic>
        <p:nvPicPr>
          <p:cNvPr id="3" name="Resource data" descr="Resource data">    </p:cNvPr>
          <p:cNvPicPr>
            <a:picLocks noChangeAspect="1"/>
          </p:cNvPicPr>
          <p:nvPr/>
        </p:nvPicPr>
        <p:blipFill>
          <a:blip r:embed="rId1"/>
          <a:stretch>
            <a:fillRect/>
          </a:stretch>
        </p:blipFill>
        <p:spPr>
          <a:xfrm>
            <a:off x="548640" y="1188720"/>
            <a:ext cx="11064240" cy="3219208"/>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709160"/>
          <a:ext cx="11064240" cy="914400"/>
        </p:xfrm>
        <a:graphic>
          <a:graphicData uri="http://schemas.openxmlformats.org/drawingml/2006/table">
            <a:tbl>
              <a:tblPr/>
              <a:tblGrid>
                <a:gridCol w="2926080"/>
                <a:gridCol w="8138160"/>
              </a:tblGrid>
              <a:tr h="365760">
                <a:tc>
                  <a:txBody>
                    <a:bodyPr/>
                    <a:lstStyle/>
                    <a:p>
                      <a:pPr indent="0" marL="0">
                        <a:buNone/>
                      </a:pPr>
                      <a:r>
                        <a:rPr lang="en-US" sz="1300" dirty="0">
                          <a:solidFill>
                            <a:srgbClr val="1B1B1B"/>
                          </a:solidFill>
                        </a:rPr>
                        <a:t>Solar, temperature, wind</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2F5"/>
                    </a:solidFill>
                  </a:tcPr>
                </a:tc>
                <a:tc>
                  <a:txBody>
                    <a:bodyPr/>
                    <a:lstStyle/>
                    <a:p>
                      <a:pPr indent="0" marL="0">
                        <a:buNone/>
                      </a:pPr>
                      <a:r>
                        <a:rPr lang="en-US" sz="1300" dirty="0">
                          <a:solidFill>
                            <a:srgbClr val="1B1B1B"/>
                          </a:solidFill>
                        </a:rPr>
                        <a:t>PVGIS v5.2 (EU JRC), ERA5, 2020, hourly, 8784 h, 17.385 N 78.487 E</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2F5"/>
                    </a:solidFill>
                  </a:tcPr>
                </a:tc>
              </a:tr>
              <a:tr h="365760">
                <a:tc>
                  <a:txBody>
                    <a:bodyPr/>
                    <a:lstStyle/>
                    <a:p>
                      <a:pPr indent="0" marL="0">
                        <a:buNone/>
                      </a:pPr>
                      <a:r>
                        <a:rPr lang="en-US" sz="1300" dirty="0">
                          <a:solidFill>
                            <a:srgbClr val="1B1B1B"/>
                          </a:solidFill>
                        </a:rPr>
                        <a:t>Tariff</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2F5"/>
                    </a:solidFill>
                  </a:tcPr>
                </a:tc>
                <a:tc>
                  <a:txBody>
                    <a:bodyPr/>
                    <a:lstStyle/>
                    <a:p>
                      <a:pPr indent="0" marL="0">
                        <a:buNone/>
                      </a:pPr>
                      <a:r>
                        <a:rPr lang="en-US" sz="1300" dirty="0">
                          <a:solidFill>
                            <a:srgbClr val="1B1B1B"/>
                          </a:solidFill>
                        </a:rPr>
                        <a:t>TGERC FY2023-24 ToD: off-peak Rs 5, normal Rs 6, peak Rs 7 per kWh</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2F5"/>
                    </a:solidFill>
                  </a:tcPr>
                </a:tc>
              </a:tr>
              <a:tr h="365760">
                <a:tc>
                  <a:txBody>
                    <a:bodyPr/>
                    <a:lstStyle/>
                    <a:p>
                      <a:pPr indent="0" marL="0">
                        <a:buNone/>
                      </a:pPr>
                      <a:r>
                        <a:rPr lang="en-US" sz="1300" dirty="0">
                          <a:solidFill>
                            <a:srgbClr val="1B1B1B"/>
                          </a:solidFill>
                        </a:rPr>
                        <a:t>Grid CO2</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2F5"/>
                    </a:solidFill>
                  </a:tcPr>
                </a:tc>
                <a:tc>
                  <a:txBody>
                    <a:bodyPr/>
                    <a:lstStyle/>
                    <a:p>
                      <a:pPr indent="0" marL="0">
                        <a:buNone/>
                      </a:pPr>
                      <a:r>
                        <a:rPr lang="en-US" sz="1300" dirty="0">
                          <a:solidFill>
                            <a:srgbClr val="1B1B1B"/>
                          </a:solidFill>
                        </a:rPr>
                        <a:t>CEA CO2 Baseline Database: 0.716 kg CO2 per kWh</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2F5"/>
                    </a:solidFill>
                  </a:tcPr>
                </a:tc>
              </a:tr>
              <a:tr h="365760">
                <a:tc>
                  <a:txBody>
                    <a:bodyPr/>
                    <a:lstStyle/>
                    <a:p>
                      <a:pPr indent="0" marL="0">
                        <a:buNone/>
                      </a:pPr>
                      <a:r>
                        <a:rPr lang="en-US" sz="1300" dirty="0">
                          <a:solidFill>
                            <a:srgbClr val="1B1B1B"/>
                          </a:solidFill>
                        </a:rPr>
                        <a:t>Distribution feeders</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2F5"/>
                    </a:solidFill>
                  </a:tcPr>
                </a:tc>
                <a:tc>
                  <a:txBody>
                    <a:bodyPr/>
                    <a:lstStyle/>
                    <a:p>
                      <a:pPr indent="0" marL="0">
                        <a:buNone/>
                      </a:pPr>
                      <a:r>
                        <a:rPr lang="en-US" sz="1300" dirty="0">
                          <a:solidFill>
                            <a:srgbClr val="1B1B1B"/>
                          </a:solidFill>
                        </a:rPr>
                        <a:t>IEEE 33-bus and 69-bus (Baran and Wu), 12.66 kV</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2F5"/>
                    </a:solidFill>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Site load model: EV hub plus appliance loads</a:t>
            </a:r>
            <a:endParaRPr lang="en-US" sz="3000" dirty="0"/>
          </a:p>
        </p:txBody>
      </p:sp>
      <p:pic>
        <p:nvPicPr>
          <p:cNvPr id="3" name="Load profile" descr="Load profile">    </p:cNvPr>
          <p:cNvPicPr>
            <a:picLocks noChangeAspect="1"/>
          </p:cNvPicPr>
          <p:nvPr/>
        </p:nvPicPr>
        <p:blipFill>
          <a:blip r:embed="rId1"/>
          <a:stretch>
            <a:fillRect/>
          </a:stretch>
        </p:blipFill>
        <p:spPr>
          <a:xfrm>
            <a:off x="548640" y="1188720"/>
            <a:ext cx="7223760" cy="3423412"/>
          </a:xfrm>
          <a:prstGeom prst="rect">
            <a:avLst/>
          </a:prstGeom>
        </p:spPr>
      </p:pic>
      <p:sp>
        <p:nvSpPr>
          <p:cNvPr id="4" name="Text 1"/>
          <p:cNvSpPr txBox="1"/>
          <p:nvPr/>
        </p:nvSpPr>
        <p:spPr>
          <a:xfrm>
            <a:off x="8046720" y="1325880"/>
            <a:ext cx="3611880" cy="493776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chemeClr val="tx1"/>
                </a:solidFill>
              </a:rPr>
              <a:t>EV hub: 8 x 7.4 kW AC + 2 x 30 kW DC chargers; every EV simulated (arrival, energy, charger queue) at 15-min steps</a:t>
            </a:r>
            <a:endParaRPr lang="en-US" sz="1400" dirty="0"/>
          </a:p>
          <a:p>
            <a:pPr marL="342900" indent="-342900">
              <a:spcAft>
                <a:spcPts val="600"/>
              </a:spcAft>
              <a:buSzPct val="100000"/>
              <a:buChar char="•"/>
            </a:pPr>
            <a:r>
              <a:rPr lang="en-US" sz="1400" dirty="0">
                <a:solidFill>
                  <a:schemeClr val="tx1"/>
                </a:solidFill>
              </a:rPr>
              <a:t>HVAC: driven by the real hourly temperature, occupancy 9-19 h, COP falls as it gets hotter</a:t>
            </a:r>
            <a:endParaRPr lang="en-US" sz="1400" dirty="0"/>
          </a:p>
          <a:p>
            <a:pPr marL="342900" indent="-342900">
              <a:spcAft>
                <a:spcPts val="600"/>
              </a:spcAft>
              <a:buSzPct val="100000"/>
              <a:buChar char="•"/>
            </a:pPr>
            <a:r>
              <a:rPr lang="en-US" sz="1400" dirty="0">
                <a:solidFill>
                  <a:schemeClr val="tx1"/>
                </a:solidFill>
              </a:rPr>
              <a:t>Water heaters: morning / evening peaks, more in winter</a:t>
            </a:r>
            <a:endParaRPr lang="en-US" sz="1400" dirty="0"/>
          </a:p>
          <a:p>
            <a:pPr marL="342900" indent="-342900">
              <a:spcAft>
                <a:spcPts val="600"/>
              </a:spcAft>
              <a:buSzPct val="100000"/>
              <a:buChar char="•"/>
            </a:pPr>
            <a:r>
              <a:rPr lang="en-US" sz="1400" dirty="0">
                <a:solidFill>
                  <a:schemeClr val="tx1"/>
                </a:solidFill>
              </a:rPr>
              <a:t>General: lighting, plugs, pumps</a:t>
            </a:r>
            <a:endParaRPr lang="en-US" sz="1400" dirty="0"/>
          </a:p>
          <a:p>
            <a:pPr marL="342900" indent="-342900">
              <a:spcAft>
                <a:spcPts val="600"/>
              </a:spcAft>
              <a:buSzPct val="100000"/>
              <a:buChar char="•"/>
            </a:pPr>
            <a:r>
              <a:rPr lang="en-US" sz="1400" dirty="0">
                <a:solidFill>
                  <a:schemeClr val="tx1"/>
                </a:solidFill>
              </a:rPr>
              <a:t>Seeded random numbers: every run gives identical results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ML day-ahead demand forecasting</a:t>
            </a:r>
            <a:endParaRPr lang="en-US" sz="3000" dirty="0"/>
          </a:p>
        </p:txBody>
      </p:sp>
      <p:pic>
        <p:nvPicPr>
          <p:cNvPr id="3" name="Forecast" descr="Forecast">    </p:cNvPr>
          <p:cNvPicPr>
            <a:picLocks noChangeAspect="1"/>
          </p:cNvPicPr>
          <p:nvPr/>
        </p:nvPicPr>
        <p:blipFill>
          <a:blip r:embed="rId1"/>
          <a:stretch>
            <a:fillRect/>
          </a:stretch>
        </p:blipFill>
        <p:spPr>
          <a:xfrm>
            <a:off x="548640" y="1188720"/>
            <a:ext cx="11064240" cy="3563962"/>
          </a:xfrm>
          <a:prstGeom prst="rect">
            <a:avLst/>
          </a:prstGeom>
        </p:spPr>
      </p:pic>
      <p:sp>
        <p:nvSpPr>
          <p:cNvPr id="4" name="stat Neural network (MLP), vs 0.57 for &amp;quot;same as yesterday&amp;quot;"/>
          <p:cNvSpPr txBox="1"/>
          <p:nvPr/>
        </p:nvSpPr>
        <p:spPr>
          <a:xfrm>
            <a:off x="548640" y="4937760"/>
            <a:ext cx="2743200" cy="685800"/>
          </a:xfrm>
          <a:prstGeom prst="rect">
            <a:avLst/>
          </a:prstGeom>
          <a:noFill/>
          <a:ln/>
        </p:spPr>
        <p:txBody>
          <a:bodyPr wrap="square" lIns="0" tIns="0" rIns="0" bIns="0" rtlCol="0" anchor="ctr"/>
          <a:lstStyle/>
          <a:p>
            <a:pPr indent="0" marL="0">
              <a:buNone/>
            </a:pPr>
            <a:r>
              <a:rPr lang="en-US" sz="3600" b="1" dirty="0">
                <a:solidFill>
                  <a:srgbClr val="2A78D6"/>
                </a:solidFill>
                <a:latin typeface="Cambria" pitchFamily="34" charset="0"/>
                <a:ea typeface="Cambria" pitchFamily="34" charset="-122"/>
                <a:cs typeface="Cambria" pitchFamily="34" charset="-120"/>
              </a:rPr>
              <a:t>R2 0.85</a:t>
            </a:r>
            <a:endParaRPr lang="en-US" sz="3600" dirty="0"/>
          </a:p>
        </p:txBody>
      </p:sp>
      <p:sp>
        <p:nvSpPr>
          <p:cNvPr id="5" name="Text 2"/>
          <p:cNvSpPr txBox="1"/>
          <p:nvPr/>
        </p:nvSpPr>
        <p:spPr>
          <a:xfrm>
            <a:off x="548640" y="5623560"/>
            <a:ext cx="2743200" cy="548640"/>
          </a:xfrm>
          <a:prstGeom prst="rect">
            <a:avLst/>
          </a:prstGeom>
          <a:noFill/>
          <a:ln/>
        </p:spPr>
        <p:txBody>
          <a:bodyPr wrap="square" lIns="0" tIns="0" rIns="0" bIns="0" rtlCol="0" anchor="t"/>
          <a:lstStyle/>
          <a:p>
            <a:pPr indent="0" marL="0">
              <a:buNone/>
            </a:pPr>
            <a:r>
              <a:rPr lang="en-US" sz="1300" dirty="0">
                <a:solidFill>
                  <a:schemeClr val="tx1"/>
                </a:solidFill>
              </a:rPr>
              <a:t>Neural network (MLP), vs 0.57 for "same as yesterday"</a:t>
            </a:r>
            <a:endParaRPr lang="en-US" sz="1300" dirty="0"/>
          </a:p>
        </p:txBody>
      </p:sp>
      <p:sp>
        <p:nvSpPr>
          <p:cNvPr id="6" name="stat hourly MAPE, every forecast out-of-sample"/>
          <p:cNvSpPr txBox="1"/>
          <p:nvPr/>
        </p:nvSpPr>
        <p:spPr>
          <a:xfrm>
            <a:off x="3429000" y="4937760"/>
            <a:ext cx="2743200" cy="685800"/>
          </a:xfrm>
          <a:prstGeom prst="rect">
            <a:avLst/>
          </a:prstGeom>
          <a:noFill/>
          <a:ln/>
        </p:spPr>
        <p:txBody>
          <a:bodyPr wrap="square" lIns="0" tIns="0" rIns="0" bIns="0" rtlCol="0" anchor="ctr"/>
          <a:lstStyle/>
          <a:p>
            <a:pPr indent="0" marL="0">
              <a:buNone/>
            </a:pPr>
            <a:r>
              <a:rPr lang="en-US" sz="3600" b="1" dirty="0">
                <a:solidFill>
                  <a:srgbClr val="2A78D6"/>
                </a:solidFill>
                <a:latin typeface="Cambria" pitchFamily="34" charset="0"/>
                <a:ea typeface="Cambria" pitchFamily="34" charset="-122"/>
                <a:cs typeface="Cambria" pitchFamily="34" charset="-120"/>
              </a:rPr>
              <a:t>16.2 %</a:t>
            </a:r>
            <a:endParaRPr lang="en-US" sz="3600" dirty="0"/>
          </a:p>
        </p:txBody>
      </p:sp>
      <p:sp>
        <p:nvSpPr>
          <p:cNvPr id="7" name="Text 4"/>
          <p:cNvSpPr txBox="1"/>
          <p:nvPr/>
        </p:nvSpPr>
        <p:spPr>
          <a:xfrm>
            <a:off x="3429000" y="5623560"/>
            <a:ext cx="2743200" cy="548640"/>
          </a:xfrm>
          <a:prstGeom prst="rect">
            <a:avLst/>
          </a:prstGeom>
          <a:noFill/>
          <a:ln/>
        </p:spPr>
        <p:txBody>
          <a:bodyPr wrap="square" lIns="0" tIns="0" rIns="0" bIns="0" rtlCol="0" anchor="t"/>
          <a:lstStyle/>
          <a:p>
            <a:pPr indent="0" marL="0">
              <a:buNone/>
            </a:pPr>
            <a:r>
              <a:rPr lang="en-US" sz="1300" dirty="0">
                <a:solidFill>
                  <a:schemeClr val="tx1"/>
                </a:solidFill>
              </a:rPr>
              <a:t>hourly MAPE, every forecast out-of-sample</a:t>
            </a:r>
            <a:endParaRPr lang="en-US" sz="1300" dirty="0"/>
          </a:p>
        </p:txBody>
      </p:sp>
      <p:sp>
        <p:nvSpPr>
          <p:cNvPr id="8" name="stat RMSE (persistence 27.8 kW)"/>
          <p:cNvSpPr txBox="1"/>
          <p:nvPr/>
        </p:nvSpPr>
        <p:spPr>
          <a:xfrm>
            <a:off x="6309360" y="4937760"/>
            <a:ext cx="2743200" cy="685800"/>
          </a:xfrm>
          <a:prstGeom prst="rect">
            <a:avLst/>
          </a:prstGeom>
          <a:noFill/>
          <a:ln/>
        </p:spPr>
        <p:txBody>
          <a:bodyPr wrap="square" lIns="0" tIns="0" rIns="0" bIns="0" rtlCol="0" anchor="ctr"/>
          <a:lstStyle/>
          <a:p>
            <a:pPr indent="0" marL="0">
              <a:buNone/>
            </a:pPr>
            <a:r>
              <a:rPr lang="en-US" sz="3600" b="1" dirty="0">
                <a:solidFill>
                  <a:srgbClr val="2A78D6"/>
                </a:solidFill>
                <a:latin typeface="Cambria" pitchFamily="34" charset="0"/>
                <a:ea typeface="Cambria" pitchFamily="34" charset="-122"/>
                <a:cs typeface="Cambria" pitchFamily="34" charset="-120"/>
              </a:rPr>
              <a:t>16.6 kW</a:t>
            </a:r>
            <a:endParaRPr lang="en-US" sz="3600" dirty="0"/>
          </a:p>
        </p:txBody>
      </p:sp>
      <p:sp>
        <p:nvSpPr>
          <p:cNvPr id="9" name="Text 6"/>
          <p:cNvSpPr txBox="1"/>
          <p:nvPr/>
        </p:nvSpPr>
        <p:spPr>
          <a:xfrm>
            <a:off x="6309360" y="5623560"/>
            <a:ext cx="2743200" cy="548640"/>
          </a:xfrm>
          <a:prstGeom prst="rect">
            <a:avLst/>
          </a:prstGeom>
          <a:noFill/>
          <a:ln/>
        </p:spPr>
        <p:txBody>
          <a:bodyPr wrap="square" lIns="0" tIns="0" rIns="0" bIns="0" rtlCol="0" anchor="t"/>
          <a:lstStyle/>
          <a:p>
            <a:pPr indent="0" marL="0">
              <a:buNone/>
            </a:pPr>
            <a:r>
              <a:rPr lang="en-US" sz="1300" dirty="0">
                <a:solidFill>
                  <a:schemeClr val="tx1"/>
                </a:solidFill>
              </a:rPr>
              <a:t>RMSE (persistence 27.8 kW)</a:t>
            </a:r>
            <a:endParaRPr lang="en-US" sz="1300" dirty="0"/>
          </a:p>
        </p:txBody>
      </p:sp>
      <p:sp>
        <p:nvSpPr>
          <p:cNvPr id="10" name="Text 7"/>
          <p:cNvSpPr txBox="1"/>
          <p:nvPr/>
        </p:nvSpPr>
        <p:spPr>
          <a:xfrm>
            <a:off x="9189720" y="4937760"/>
            <a:ext cx="2468880" cy="1325880"/>
          </a:xfrm>
          <a:prstGeom prst="rect">
            <a:avLst/>
          </a:prstGeom>
          <a:noFill/>
          <a:ln/>
        </p:spPr>
        <p:txBody>
          <a:bodyPr wrap="square" lIns="0" tIns="0" rIns="0" bIns="0" rtlCol="0" anchor="t"/>
          <a:lstStyle/>
          <a:p>
            <a:pPr indent="0" marL="0">
              <a:buNone/>
            </a:pPr>
            <a:r>
              <a:rPr lang="en-US" sz="1200" dirty="0">
                <a:solidFill>
                  <a:srgbClr val="8A8984"/>
                </a:solidFill>
              </a:rPr>
              <a:t>Inputs: hour, weekday, season, next-day temperature forecast, load 24 h / 48 h / 168 h earlier, yesterday's mean and peak. Validation: 12-fold month-blocked CV.</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EMS formulation: adaptive multi-objective scheduling</a:t>
            </a:r>
            <a:endParaRPr lang="en-US" sz="3000" dirty="0"/>
          </a:p>
        </p:txBody>
      </p:sp>
      <p:sp>
        <p:nvSpPr>
          <p:cNvPr id="3" name="Shape 1"/>
          <p:cNvSpPr/>
          <p:nvPr/>
        </p:nvSpPr>
        <p:spPr>
          <a:xfrm>
            <a:off x="548640" y="1280160"/>
            <a:ext cx="6583680" cy="2011680"/>
          </a:xfrm>
          <a:prstGeom prst="roundRect">
            <a:avLst>
              <a:gd name="adj" fmla="val 3636"/>
            </a:avLst>
          </a:prstGeom>
          <a:solidFill>
            <a:srgbClr val="EEF2F5"/>
          </a:solidFill>
          <a:ln/>
        </p:spPr>
      </p:sp>
      <p:sp>
        <p:nvSpPr>
          <p:cNvPr id="4" name="Text 2"/>
          <p:cNvSpPr txBox="1"/>
          <p:nvPr/>
        </p:nvSpPr>
        <p:spPr>
          <a:xfrm>
            <a:off x="777240" y="1371600"/>
            <a:ext cx="6217920" cy="1828800"/>
          </a:xfrm>
          <a:prstGeom prst="rect">
            <a:avLst/>
          </a:prstGeom>
          <a:noFill/>
          <a:ln/>
        </p:spPr>
        <p:txBody>
          <a:bodyPr wrap="square" lIns="0" tIns="0" rIns="0" bIns="0" rtlCol="0" anchor="ctr"/>
          <a:lstStyle/>
          <a:p>
            <a:pPr indent="0" marL="0">
              <a:buNone/>
            </a:pPr>
            <a:r>
              <a:rPr lang="en-US" sz="1400" b="1" dirty="0">
                <a:solidFill>
                  <a:srgbClr val="1B1B1B"/>
                </a:solidFill>
              </a:rPr>
              <a:t>Decision: battery power P_b(t), t = 1..24 h</a:t>
            </a:r>
            <a:endParaRPr lang="en-US" sz="1400" dirty="0"/>
          </a:p>
          <a:p>
            <a:pPr indent="0" marL="0">
              <a:buNone/>
            </a:pPr>
            <a:r>
              <a:rPr lang="en-US" sz="1400" dirty="0">
                <a:solidFill>
                  <a:srgbClr val="1B1B1B"/>
                </a:solidFill>
                <a:latin typeface="Cambria Math" pitchFamily="34" charset="0"/>
                <a:ea typeface="Cambria Math" pitchFamily="34" charset="-122"/>
                <a:cs typeface="Cambria Math" pitchFamily="34" charset="-120"/>
              </a:rPr>
              <a:t>J = Σ w_c(t)·Cost(t)/C₀  +  Σ w_e(t)·CO₂(t)/E₀  +  W_p·max φ(t)·P_grid(t) / P₀</a:t>
            </a:r>
            <a:endParaRPr lang="en-US" sz="1400" dirty="0"/>
          </a:p>
          <a:p>
            <a:pPr indent="0" marL="0">
              <a:buNone/>
            </a:pPr>
            <a:r>
              <a:rPr lang="en-US" sz="1400" dirty="0">
                <a:solidFill>
                  <a:srgbClr val="1B1B1B"/>
                </a:solidFill>
              </a:rPr>
              <a:t>Grid(t) = Load(t) − PV(t) − Wind(t) − P_b(t)   (import &gt; 0, export &lt; 0, export ≤ 150 kW)</a:t>
            </a:r>
            <a:endParaRPr lang="en-US" sz="1400" dirty="0"/>
          </a:p>
          <a:p>
            <a:pPr indent="0" marL="0">
              <a:buNone/>
            </a:pPr>
            <a:r>
              <a:rPr lang="en-US" sz="1400" dirty="0">
                <a:solidFill>
                  <a:srgbClr val="1B1B1B"/>
                </a:solidFill>
              </a:rPr>
              <a:t>SOC limits 20-95 %, |P_b| ≤ 0.5C, η = 95 %, end-of-day SOC ≥ 50 %</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406640" y="1280160"/>
          <a:ext cx="4206240" cy="914400"/>
        </p:xfrm>
        <a:graphic>
          <a:graphicData uri="http://schemas.openxmlformats.org/drawingml/2006/table">
            <a:tbl>
              <a:tblPr/>
              <a:tblGrid>
                <a:gridCol w="2011680"/>
                <a:gridCol w="731520"/>
                <a:gridCol w="731520"/>
                <a:gridCol w="731520"/>
              </a:tblGrid>
              <a:tr h="384048">
                <a:tc>
                  <a:txBody>
                    <a:bodyPr/>
                    <a:lstStyle/>
                    <a:p>
                      <a:pPr algn="ctr" indent="0" marL="0">
                        <a:buNone/>
                      </a:pPr>
                      <a:r>
                        <a:rPr lang="en-US" sz="1300" b="1" dirty="0">
                          <a:solidFill>
                            <a:srgbClr val="FFFFFF"/>
                          </a:solidFill>
                        </a:rPr>
                        <a:t>Hours</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300" b="1" dirty="0">
                          <a:solidFill>
                            <a:srgbClr val="FFFFFF"/>
                          </a:solidFill>
                        </a:rPr>
                        <a:t>w cost</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300" b="1" dirty="0">
                          <a:solidFill>
                            <a:srgbClr val="FFFFFF"/>
                          </a:solidFill>
                        </a:rPr>
                        <a:t>w peak</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300" b="1" dirty="0">
                          <a:solidFill>
                            <a:srgbClr val="FFFFFF"/>
                          </a:solidFill>
                        </a:rPr>
                        <a:t>w CO2</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r>
              <a:tr h="384048">
                <a:tc>
                  <a:txBody>
                    <a:bodyPr/>
                    <a:lstStyle/>
                    <a:p>
                      <a:pPr algn="ctr" indent="0" marL="0">
                        <a:buNone/>
                      </a:pPr>
                      <a:r>
                        <a:rPr lang="en-US" sz="1300" dirty="0">
                          <a:solidFill>
                            <a:srgbClr val="1B1B1B"/>
                          </a:solidFill>
                        </a:rPr>
                        <a:t>ToD peak 06-10, 18-22</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300" dirty="0">
                          <a:solidFill>
                            <a:srgbClr val="1B1B1B"/>
                          </a:solidFill>
                        </a:rPr>
                        <a:t>0.35</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300" dirty="0">
                          <a:solidFill>
                            <a:srgbClr val="1B1B1B"/>
                          </a:solidFill>
                        </a:rPr>
                        <a:t>0.50</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300" dirty="0">
                          <a:solidFill>
                            <a:srgbClr val="1B1B1B"/>
                          </a:solidFill>
                        </a:rPr>
                        <a:t>0.15</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384048">
                <a:tc>
                  <a:txBody>
                    <a:bodyPr/>
                    <a:lstStyle/>
                    <a:p>
                      <a:pPr algn="ctr" indent="0" marL="0">
                        <a:buNone/>
                      </a:pPr>
                      <a:r>
                        <a:rPr lang="en-US" sz="1300" dirty="0">
                          <a:solidFill>
                            <a:srgbClr val="1B1B1B"/>
                          </a:solidFill>
                        </a:rPr>
                        <a:t>Normal 10-18</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300" dirty="0">
                          <a:solidFill>
                            <a:srgbClr val="1B1B1B"/>
                          </a:solidFill>
                        </a:rPr>
                        <a:t>0.50</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300" dirty="0">
                          <a:solidFill>
                            <a:srgbClr val="1B1B1B"/>
                          </a:solidFill>
                        </a:rPr>
                        <a:t>0.20</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300" dirty="0">
                          <a:solidFill>
                            <a:srgbClr val="1B1B1B"/>
                          </a:solidFill>
                        </a:rPr>
                        <a:t>0.30</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384048">
                <a:tc>
                  <a:txBody>
                    <a:bodyPr/>
                    <a:lstStyle/>
                    <a:p>
                      <a:pPr algn="ctr" indent="0" marL="0">
                        <a:buNone/>
                      </a:pPr>
                      <a:r>
                        <a:rPr lang="en-US" sz="1300" dirty="0">
                          <a:solidFill>
                            <a:srgbClr val="1B1B1B"/>
                          </a:solidFill>
                        </a:rPr>
                        <a:t>Off-peak 22-06</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300" dirty="0">
                          <a:solidFill>
                            <a:srgbClr val="1B1B1B"/>
                          </a:solidFill>
                        </a:rPr>
                        <a:t>0.70</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300" dirty="0">
                          <a:solidFill>
                            <a:srgbClr val="1B1B1B"/>
                          </a:solidFill>
                        </a:rPr>
                        <a:t>0.15</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300" dirty="0">
                          <a:solidFill>
                            <a:srgbClr val="1B1B1B"/>
                          </a:solidFill>
                        </a:rPr>
                        <a:t>0.15</a:t>
                      </a:r>
                      <a:endParaRPr lang="en-US" sz="13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bl>
          </a:graphicData>
        </a:graphic>
      </p:graphicFrame>
      <p:sp>
        <p:nvSpPr>
          <p:cNvPr id="6" name="Text 3"/>
          <p:cNvSpPr txBox="1"/>
          <p:nvPr/>
        </p:nvSpPr>
        <p:spPr>
          <a:xfrm>
            <a:off x="7406640" y="3154680"/>
            <a:ext cx="4206240" cy="548640"/>
          </a:xfrm>
          <a:prstGeom prst="rect">
            <a:avLst/>
          </a:prstGeom>
          <a:noFill/>
          <a:ln/>
        </p:spPr>
        <p:txBody>
          <a:bodyPr wrap="square" lIns="0" tIns="0" rIns="0" bIns="0" rtlCol="0" anchor="t"/>
          <a:lstStyle/>
          <a:p>
            <a:pPr indent="0" marL="0">
              <a:buNone/>
            </a:pPr>
            <a:r>
              <a:rPr lang="en-US" sz="1200" dirty="0">
                <a:solidFill>
                  <a:srgbClr val="8A8984"/>
                </a:solidFill>
              </a:rPr>
              <a:t>Adaptive weights: priority shifts from "cheapest" at night to "lowest grid draw" in the evening peak.</a:t>
            </a:r>
            <a:endParaRPr lang="en-US" sz="1200" dirty="0"/>
          </a:p>
        </p:txBody>
      </p:sp>
      <p:sp>
        <p:nvSpPr>
          <p:cNvPr id="7" name="Shape 4"/>
          <p:cNvSpPr/>
          <p:nvPr/>
        </p:nvSpPr>
        <p:spPr>
          <a:xfrm>
            <a:off x="548640" y="3840480"/>
            <a:ext cx="3566160" cy="2331720"/>
          </a:xfrm>
          <a:prstGeom prst="roundRect">
            <a:avLst>
              <a:gd name="adj" fmla="val 3137"/>
            </a:avLst>
          </a:prstGeom>
          <a:solidFill>
            <a:schemeClr val="bg2"/>
          </a:solidFill>
          <a:ln/>
        </p:spPr>
      </p:sp>
      <p:sp>
        <p:nvSpPr>
          <p:cNvPr id="8" name="Shape 5"/>
          <p:cNvSpPr/>
          <p:nvPr/>
        </p:nvSpPr>
        <p:spPr>
          <a:xfrm>
            <a:off x="731520" y="4023360"/>
            <a:ext cx="457200" cy="457200"/>
          </a:xfrm>
          <a:prstGeom prst="ellipse">
            <a:avLst/>
          </a:prstGeom>
          <a:solidFill>
            <a:srgbClr val="F2A900"/>
          </a:solidFill>
          <a:ln/>
        </p:spPr>
      </p:sp>
      <p:sp>
        <p:nvSpPr>
          <p:cNvPr id="9" name="Text 6"/>
          <p:cNvSpPr txBox="1"/>
          <p:nvPr/>
        </p:nvSpPr>
        <p:spPr>
          <a:xfrm>
            <a:off x="731520" y="402336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10" name="Text 7"/>
          <p:cNvSpPr txBox="1"/>
          <p:nvPr/>
        </p:nvSpPr>
        <p:spPr>
          <a:xfrm>
            <a:off x="1325880" y="3995928"/>
            <a:ext cx="2651760" cy="502920"/>
          </a:xfrm>
          <a:prstGeom prst="rect">
            <a:avLst/>
          </a:prstGeom>
          <a:noFill/>
          <a:ln/>
        </p:spPr>
        <p:txBody>
          <a:bodyPr wrap="square" lIns="0" tIns="0" rIns="0" bIns="0" rtlCol="0" anchor="ctr"/>
          <a:lstStyle/>
          <a:p>
            <a:pPr indent="0" marL="0">
              <a:buNone/>
            </a:pPr>
            <a:r>
              <a:rPr lang="en-US" sz="1600" b="1" dirty="0">
                <a:solidFill>
                  <a:schemeClr val="tx2"/>
                </a:solidFill>
              </a:rPr>
              <a:t>Day-ahead plan</a:t>
            </a:r>
            <a:endParaRPr lang="en-US" sz="1600" dirty="0"/>
          </a:p>
        </p:txBody>
      </p:sp>
      <p:sp>
        <p:nvSpPr>
          <p:cNvPr id="11" name="Text 8"/>
          <p:cNvSpPr txBox="1"/>
          <p:nvPr/>
        </p:nvSpPr>
        <p:spPr>
          <a:xfrm>
            <a:off x="777240" y="4617720"/>
            <a:ext cx="3154680" cy="1417320"/>
          </a:xfrm>
          <a:prstGeom prst="rect">
            <a:avLst/>
          </a:prstGeom>
          <a:noFill/>
          <a:ln/>
        </p:spPr>
        <p:txBody>
          <a:bodyPr wrap="square" lIns="0" tIns="0" rIns="0" bIns="0" rtlCol="0" anchor="t"/>
          <a:lstStyle/>
          <a:p>
            <a:pPr indent="0" marL="0">
              <a:buNone/>
            </a:pPr>
            <a:r>
              <a:rPr lang="en-US" sz="1350" dirty="0">
                <a:solidFill>
                  <a:schemeClr val="tx1"/>
                </a:solidFill>
              </a:rPr>
              <a:t>End of day D-1: ML forecast of load and PV for day D goes to GA or PSO, which returns 24 battery set-points.</a:t>
            </a:r>
            <a:endParaRPr lang="en-US" sz="1350" dirty="0"/>
          </a:p>
        </p:txBody>
      </p:sp>
      <p:sp>
        <p:nvSpPr>
          <p:cNvPr id="12" name="Shape 9"/>
          <p:cNvSpPr/>
          <p:nvPr/>
        </p:nvSpPr>
        <p:spPr>
          <a:xfrm>
            <a:off x="4297680" y="3840480"/>
            <a:ext cx="3566160" cy="2331720"/>
          </a:xfrm>
          <a:prstGeom prst="roundRect">
            <a:avLst>
              <a:gd name="adj" fmla="val 3137"/>
            </a:avLst>
          </a:prstGeom>
          <a:solidFill>
            <a:schemeClr val="bg2"/>
          </a:solidFill>
          <a:ln/>
        </p:spPr>
      </p:sp>
      <p:sp>
        <p:nvSpPr>
          <p:cNvPr id="13" name="Shape 10"/>
          <p:cNvSpPr/>
          <p:nvPr/>
        </p:nvSpPr>
        <p:spPr>
          <a:xfrm>
            <a:off x="4480560" y="4023360"/>
            <a:ext cx="457200" cy="457200"/>
          </a:xfrm>
          <a:prstGeom prst="ellipse">
            <a:avLst/>
          </a:prstGeom>
          <a:solidFill>
            <a:srgbClr val="F2A900"/>
          </a:solidFill>
          <a:ln/>
        </p:spPr>
      </p:sp>
      <p:sp>
        <p:nvSpPr>
          <p:cNvPr id="14" name="Text 11"/>
          <p:cNvSpPr txBox="1"/>
          <p:nvPr/>
        </p:nvSpPr>
        <p:spPr>
          <a:xfrm>
            <a:off x="4480560" y="402336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5" name="Text 12"/>
          <p:cNvSpPr txBox="1"/>
          <p:nvPr/>
        </p:nvSpPr>
        <p:spPr>
          <a:xfrm>
            <a:off x="5074920" y="3995928"/>
            <a:ext cx="2651760" cy="502920"/>
          </a:xfrm>
          <a:prstGeom prst="rect">
            <a:avLst/>
          </a:prstGeom>
          <a:noFill/>
          <a:ln/>
        </p:spPr>
        <p:txBody>
          <a:bodyPr wrap="square" lIns="0" tIns="0" rIns="0" bIns="0" rtlCol="0" anchor="ctr"/>
          <a:lstStyle/>
          <a:p>
            <a:pPr indent="0" marL="0">
              <a:buNone/>
            </a:pPr>
            <a:r>
              <a:rPr lang="en-US" sz="1600" b="1" dirty="0">
                <a:solidFill>
                  <a:schemeClr val="tx2"/>
                </a:solidFill>
              </a:rPr>
              <a:t>Real-time correction</a:t>
            </a:r>
            <a:endParaRPr lang="en-US" sz="1600" dirty="0"/>
          </a:p>
        </p:txBody>
      </p:sp>
      <p:sp>
        <p:nvSpPr>
          <p:cNvPr id="16" name="Text 13"/>
          <p:cNvSpPr txBox="1"/>
          <p:nvPr/>
        </p:nvSpPr>
        <p:spPr>
          <a:xfrm>
            <a:off x="4526280" y="4617720"/>
            <a:ext cx="3154680" cy="1417320"/>
          </a:xfrm>
          <a:prstGeom prst="rect">
            <a:avLst/>
          </a:prstGeom>
          <a:noFill/>
          <a:ln/>
        </p:spPr>
        <p:txBody>
          <a:bodyPr wrap="square" lIns="0" tIns="0" rIns="0" bIns="0" rtlCol="0" anchor="t"/>
          <a:lstStyle/>
          <a:p>
            <a:pPr indent="0" marL="0">
              <a:buNone/>
            </a:pPr>
            <a:r>
              <a:rPr lang="en-US" sz="1350" dirty="0">
                <a:solidFill>
                  <a:schemeClr val="tx1"/>
                </a:solidFill>
              </a:rPr>
              <a:t>In peak hours the battery absorbs forecast error so grid draw stays at plan. Other hours: unforecast solar surplus is stored, not exported.</a:t>
            </a:r>
            <a:endParaRPr lang="en-US" sz="1350" dirty="0"/>
          </a:p>
        </p:txBody>
      </p:sp>
      <p:sp>
        <p:nvSpPr>
          <p:cNvPr id="17" name="Shape 14"/>
          <p:cNvSpPr/>
          <p:nvPr/>
        </p:nvSpPr>
        <p:spPr>
          <a:xfrm>
            <a:off x="8046720" y="3840480"/>
            <a:ext cx="3566160" cy="2331720"/>
          </a:xfrm>
          <a:prstGeom prst="roundRect">
            <a:avLst>
              <a:gd name="adj" fmla="val 3137"/>
            </a:avLst>
          </a:prstGeom>
          <a:solidFill>
            <a:schemeClr val="bg2"/>
          </a:solidFill>
          <a:ln/>
        </p:spPr>
      </p:sp>
      <p:sp>
        <p:nvSpPr>
          <p:cNvPr id="18" name="Shape 15"/>
          <p:cNvSpPr/>
          <p:nvPr/>
        </p:nvSpPr>
        <p:spPr>
          <a:xfrm>
            <a:off x="8229600" y="4023360"/>
            <a:ext cx="457200" cy="457200"/>
          </a:xfrm>
          <a:prstGeom prst="ellipse">
            <a:avLst/>
          </a:prstGeom>
          <a:solidFill>
            <a:srgbClr val="F2A900"/>
          </a:solidFill>
          <a:ln/>
        </p:spPr>
      </p:sp>
      <p:sp>
        <p:nvSpPr>
          <p:cNvPr id="19" name="Text 16"/>
          <p:cNvSpPr txBox="1"/>
          <p:nvPr/>
        </p:nvSpPr>
        <p:spPr>
          <a:xfrm>
            <a:off x="8229600" y="402336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20" name="Text 17"/>
          <p:cNvSpPr txBox="1"/>
          <p:nvPr/>
        </p:nvSpPr>
        <p:spPr>
          <a:xfrm>
            <a:off x="8823960" y="3995928"/>
            <a:ext cx="2651760" cy="502920"/>
          </a:xfrm>
          <a:prstGeom prst="rect">
            <a:avLst/>
          </a:prstGeom>
          <a:noFill/>
          <a:ln/>
        </p:spPr>
        <p:txBody>
          <a:bodyPr wrap="square" lIns="0" tIns="0" rIns="0" bIns="0" rtlCol="0" anchor="ctr"/>
          <a:lstStyle/>
          <a:p>
            <a:pPr indent="0" marL="0">
              <a:buNone/>
            </a:pPr>
            <a:r>
              <a:rPr lang="en-US" sz="1600" b="1" dirty="0">
                <a:solidFill>
                  <a:schemeClr val="tx2"/>
                </a:solidFill>
              </a:rPr>
              <a:t>Peak guard</a:t>
            </a:r>
            <a:endParaRPr lang="en-US" sz="1600" dirty="0"/>
          </a:p>
        </p:txBody>
      </p:sp>
      <p:sp>
        <p:nvSpPr>
          <p:cNvPr id="21" name="Text 18"/>
          <p:cNvSpPr txBox="1"/>
          <p:nvPr/>
        </p:nvSpPr>
        <p:spPr>
          <a:xfrm>
            <a:off x="8275320" y="4617720"/>
            <a:ext cx="3154680" cy="1417320"/>
          </a:xfrm>
          <a:prstGeom prst="rect">
            <a:avLst/>
          </a:prstGeom>
          <a:noFill/>
          <a:ln/>
        </p:spPr>
        <p:txBody>
          <a:bodyPr wrap="square" lIns="0" tIns="0" rIns="0" bIns="0" rtlCol="0" anchor="t"/>
          <a:lstStyle/>
          <a:p>
            <a:pPr indent="0" marL="0">
              <a:buNone/>
            </a:pPr>
            <a:r>
              <a:rPr lang="en-US" sz="1350" dirty="0">
                <a:solidFill>
                  <a:schemeClr val="tx1"/>
                </a:solidFill>
              </a:rPr>
              <a:t>Every hour, grid import may not exceed the day's planned maximum: the battery charges less or discharges more.</a:t>
            </a:r>
            <a:endParaRPr lang="en-US" sz="13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GA and PSO solvers, benchmarked against the exact optimum</a:t>
            </a:r>
            <a:endParaRPr lang="en-US" sz="3000" dirty="0"/>
          </a:p>
        </p:txBody>
      </p:sp>
      <p:sp>
        <p:nvSpPr>
          <p:cNvPr id="3" name="Shape 1"/>
          <p:cNvSpPr/>
          <p:nvPr/>
        </p:nvSpPr>
        <p:spPr>
          <a:xfrm>
            <a:off x="548640" y="1280160"/>
            <a:ext cx="3611880" cy="2331720"/>
          </a:xfrm>
          <a:prstGeom prst="roundRect">
            <a:avLst>
              <a:gd name="adj" fmla="val 3137"/>
            </a:avLst>
          </a:prstGeom>
          <a:solidFill>
            <a:schemeClr val="bg2"/>
          </a:solidFill>
          <a:ln/>
        </p:spPr>
      </p:sp>
      <p:sp>
        <p:nvSpPr>
          <p:cNvPr id="4" name="Shape 2"/>
          <p:cNvSpPr/>
          <p:nvPr/>
        </p:nvSpPr>
        <p:spPr>
          <a:xfrm>
            <a:off x="731520" y="1463040"/>
            <a:ext cx="457200" cy="457200"/>
          </a:xfrm>
          <a:prstGeom prst="ellipse">
            <a:avLst/>
          </a:prstGeom>
          <a:solidFill>
            <a:srgbClr val="4A3AA7"/>
          </a:solidFill>
          <a:ln/>
        </p:spPr>
      </p:sp>
      <p:sp>
        <p:nvSpPr>
          <p:cNvPr id="5" name="Text 3"/>
          <p:cNvSpPr txBox="1"/>
          <p:nvPr/>
        </p:nvSpPr>
        <p:spPr>
          <a:xfrm>
            <a:off x="731520" y="146304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6" name="Text 4"/>
          <p:cNvSpPr txBox="1"/>
          <p:nvPr/>
        </p:nvSpPr>
        <p:spPr>
          <a:xfrm>
            <a:off x="1325880" y="1435608"/>
            <a:ext cx="2697480" cy="502920"/>
          </a:xfrm>
          <a:prstGeom prst="rect">
            <a:avLst/>
          </a:prstGeom>
          <a:noFill/>
          <a:ln/>
        </p:spPr>
        <p:txBody>
          <a:bodyPr wrap="square" lIns="0" tIns="0" rIns="0" bIns="0" rtlCol="0" anchor="ctr"/>
          <a:lstStyle/>
          <a:p>
            <a:pPr indent="0" marL="0">
              <a:buNone/>
            </a:pPr>
            <a:r>
              <a:rPr lang="en-US" sz="1600" b="1" dirty="0">
                <a:solidFill>
                  <a:schemeClr val="tx2"/>
                </a:solidFill>
              </a:rPr>
              <a:t>Genetic Algorithm</a:t>
            </a:r>
            <a:endParaRPr lang="en-US" sz="1600" dirty="0"/>
          </a:p>
        </p:txBody>
      </p:sp>
      <p:sp>
        <p:nvSpPr>
          <p:cNvPr id="7" name="Text 5"/>
          <p:cNvSpPr txBox="1"/>
          <p:nvPr/>
        </p:nvSpPr>
        <p:spPr>
          <a:xfrm>
            <a:off x="777240" y="2057400"/>
            <a:ext cx="3200400" cy="1417320"/>
          </a:xfrm>
          <a:prstGeom prst="rect">
            <a:avLst/>
          </a:prstGeom>
          <a:noFill/>
          <a:ln/>
        </p:spPr>
        <p:txBody>
          <a:bodyPr wrap="square" lIns="0" tIns="0" rIns="0" bIns="0" rtlCol="0" anchor="t"/>
          <a:lstStyle/>
          <a:p>
            <a:pPr indent="0" marL="0">
              <a:buNone/>
            </a:pPr>
            <a:r>
              <a:rPr lang="en-US" sz="1350" dirty="0">
                <a:solidFill>
                  <a:schemeClr val="tx1"/>
                </a:solidFill>
              </a:rPr>
              <a:t>Population 150, 500 generations. Tournament selection, blend (BLX-0.3) crossover, Gaussian mutation, elitism. Each schedule repaired to SOC / power limits before scoring.</a:t>
            </a:r>
            <a:endParaRPr lang="en-US" sz="1350" dirty="0"/>
          </a:p>
        </p:txBody>
      </p:sp>
      <p:sp>
        <p:nvSpPr>
          <p:cNvPr id="8" name="Shape 6"/>
          <p:cNvSpPr/>
          <p:nvPr/>
        </p:nvSpPr>
        <p:spPr>
          <a:xfrm>
            <a:off x="4297680" y="1280160"/>
            <a:ext cx="3611880" cy="2331720"/>
          </a:xfrm>
          <a:prstGeom prst="roundRect">
            <a:avLst>
              <a:gd name="adj" fmla="val 3137"/>
            </a:avLst>
          </a:prstGeom>
          <a:solidFill>
            <a:schemeClr val="bg2"/>
          </a:solidFill>
          <a:ln/>
        </p:spPr>
      </p:sp>
      <p:sp>
        <p:nvSpPr>
          <p:cNvPr id="9" name="Shape 7"/>
          <p:cNvSpPr/>
          <p:nvPr/>
        </p:nvSpPr>
        <p:spPr>
          <a:xfrm>
            <a:off x="4480560" y="1463040"/>
            <a:ext cx="457200" cy="457200"/>
          </a:xfrm>
          <a:prstGeom prst="ellipse">
            <a:avLst/>
          </a:prstGeom>
          <a:solidFill>
            <a:srgbClr val="2A78D6"/>
          </a:solidFill>
          <a:ln/>
        </p:spPr>
      </p:sp>
      <p:sp>
        <p:nvSpPr>
          <p:cNvPr id="10" name="Text 8"/>
          <p:cNvSpPr txBox="1"/>
          <p:nvPr/>
        </p:nvSpPr>
        <p:spPr>
          <a:xfrm>
            <a:off x="4480560" y="146304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1" name="Text 9"/>
          <p:cNvSpPr txBox="1"/>
          <p:nvPr/>
        </p:nvSpPr>
        <p:spPr>
          <a:xfrm>
            <a:off x="5074920" y="1435608"/>
            <a:ext cx="2697480" cy="502920"/>
          </a:xfrm>
          <a:prstGeom prst="rect">
            <a:avLst/>
          </a:prstGeom>
          <a:noFill/>
          <a:ln/>
        </p:spPr>
        <p:txBody>
          <a:bodyPr wrap="square" lIns="0" tIns="0" rIns="0" bIns="0" rtlCol="0" anchor="ctr"/>
          <a:lstStyle/>
          <a:p>
            <a:pPr indent="0" marL="0">
              <a:buNone/>
            </a:pPr>
            <a:r>
              <a:rPr lang="en-US" sz="1600" b="1" dirty="0">
                <a:solidFill>
                  <a:schemeClr val="tx2"/>
                </a:solidFill>
              </a:rPr>
              <a:t>Particle Swarm</a:t>
            </a:r>
            <a:endParaRPr lang="en-US" sz="1600" dirty="0"/>
          </a:p>
        </p:txBody>
      </p:sp>
      <p:sp>
        <p:nvSpPr>
          <p:cNvPr id="12" name="Text 10"/>
          <p:cNvSpPr txBox="1"/>
          <p:nvPr/>
        </p:nvSpPr>
        <p:spPr>
          <a:xfrm>
            <a:off x="4526280" y="2057400"/>
            <a:ext cx="3200400" cy="1417320"/>
          </a:xfrm>
          <a:prstGeom prst="rect">
            <a:avLst/>
          </a:prstGeom>
          <a:noFill/>
          <a:ln/>
        </p:spPr>
        <p:txBody>
          <a:bodyPr wrap="square" lIns="0" tIns="0" rIns="0" bIns="0" rtlCol="0" anchor="t"/>
          <a:lstStyle/>
          <a:p>
            <a:pPr indent="0" marL="0">
              <a:buNone/>
            </a:pPr>
            <a:r>
              <a:rPr lang="en-US" sz="1350" dirty="0">
                <a:solidFill>
                  <a:schemeClr val="tx1"/>
                </a:solidFill>
              </a:rPr>
              <a:t>100 particles, 500 iterations. Inertia 0.9 to 0.4, c1 = c2 = 1.8, velocity clamp. Same repair and the same objective as GA.</a:t>
            </a:r>
            <a:endParaRPr lang="en-US" sz="1350" dirty="0"/>
          </a:p>
        </p:txBody>
      </p:sp>
      <p:sp>
        <p:nvSpPr>
          <p:cNvPr id="13" name="Shape 11"/>
          <p:cNvSpPr/>
          <p:nvPr/>
        </p:nvSpPr>
        <p:spPr>
          <a:xfrm>
            <a:off x="8046720" y="1280160"/>
            <a:ext cx="3566160" cy="2331720"/>
          </a:xfrm>
          <a:prstGeom prst="roundRect">
            <a:avLst>
              <a:gd name="adj" fmla="val 3137"/>
            </a:avLst>
          </a:prstGeom>
          <a:solidFill>
            <a:schemeClr val="bg2"/>
          </a:solidFill>
          <a:ln/>
        </p:spPr>
      </p:sp>
      <p:sp>
        <p:nvSpPr>
          <p:cNvPr id="14" name="Shape 12"/>
          <p:cNvSpPr/>
          <p:nvPr/>
        </p:nvSpPr>
        <p:spPr>
          <a:xfrm>
            <a:off x="8229600" y="1463040"/>
            <a:ext cx="457200" cy="457200"/>
          </a:xfrm>
          <a:prstGeom prst="ellipse">
            <a:avLst/>
          </a:prstGeom>
          <a:solidFill>
            <a:srgbClr val="1BAF7A"/>
          </a:solidFill>
          <a:ln/>
        </p:spPr>
      </p:sp>
      <p:sp>
        <p:nvSpPr>
          <p:cNvPr id="15" name="Text 13"/>
          <p:cNvSpPr txBox="1"/>
          <p:nvPr/>
        </p:nvSpPr>
        <p:spPr>
          <a:xfrm>
            <a:off x="8229600" y="146304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6" name="Text 14"/>
          <p:cNvSpPr txBox="1"/>
          <p:nvPr/>
        </p:nvSpPr>
        <p:spPr>
          <a:xfrm>
            <a:off x="8823960" y="1435608"/>
            <a:ext cx="2651760" cy="502920"/>
          </a:xfrm>
          <a:prstGeom prst="rect">
            <a:avLst/>
          </a:prstGeom>
          <a:noFill/>
          <a:ln/>
        </p:spPr>
        <p:txBody>
          <a:bodyPr wrap="square" lIns="0" tIns="0" rIns="0" bIns="0" rtlCol="0" anchor="ctr"/>
          <a:lstStyle/>
          <a:p>
            <a:pPr indent="0" marL="0">
              <a:buNone/>
            </a:pPr>
            <a:r>
              <a:rPr lang="en-US" sz="1600" b="1" dirty="0">
                <a:solidFill>
                  <a:schemeClr val="tx2"/>
                </a:solidFill>
              </a:rPr>
              <a:t>Exact LP (benchmark)</a:t>
            </a:r>
            <a:endParaRPr lang="en-US" sz="1600" dirty="0"/>
          </a:p>
        </p:txBody>
      </p:sp>
      <p:sp>
        <p:nvSpPr>
          <p:cNvPr id="17" name="Text 15"/>
          <p:cNvSpPr txBox="1"/>
          <p:nvPr/>
        </p:nvSpPr>
        <p:spPr>
          <a:xfrm>
            <a:off x="8275320" y="2057400"/>
            <a:ext cx="3154680" cy="1417320"/>
          </a:xfrm>
          <a:prstGeom prst="rect">
            <a:avLst/>
          </a:prstGeom>
          <a:noFill/>
          <a:ln/>
        </p:spPr>
        <p:txBody>
          <a:bodyPr wrap="square" lIns="0" tIns="0" rIns="0" bIns="0" rtlCol="0" anchor="t"/>
          <a:lstStyle/>
          <a:p>
            <a:pPr indent="0" marL="0">
              <a:buNone/>
            </a:pPr>
            <a:r>
              <a:rPr lang="en-US" sz="1350" dirty="0">
                <a:solidFill>
                  <a:schemeClr val="tx1"/>
                </a:solidFill>
              </a:rPr>
              <a:t>The same day-ahead problem written as a Linear Program, solved by HiGHS. Gives the true optimum, so we can measure how close GA and PSO get.</a:t>
            </a:r>
            <a:endParaRPr lang="en-US" sz="1350" dirty="0"/>
          </a:p>
        </p:txBody>
      </p:sp>
      <p:sp>
        <p:nvSpPr>
          <p:cNvPr id="18" name="stat PSO mean gap to optimum over 366 days (95th pct 1.36 %)"/>
          <p:cNvSpPr txBox="1"/>
          <p:nvPr/>
        </p:nvSpPr>
        <p:spPr>
          <a:xfrm>
            <a:off x="548640" y="4160520"/>
            <a:ext cx="3611880" cy="685800"/>
          </a:xfrm>
          <a:prstGeom prst="rect">
            <a:avLst/>
          </a:prstGeom>
          <a:noFill/>
          <a:ln/>
        </p:spPr>
        <p:txBody>
          <a:bodyPr wrap="square" lIns="0" tIns="0" rIns="0" bIns="0" rtlCol="0" anchor="ctr"/>
          <a:lstStyle/>
          <a:p>
            <a:pPr indent="0" marL="0">
              <a:buNone/>
            </a:pPr>
            <a:r>
              <a:rPr lang="en-US" sz="3600" b="1" dirty="0">
                <a:solidFill>
                  <a:srgbClr val="2A78D6"/>
                </a:solidFill>
                <a:latin typeface="Cambria" pitchFamily="34" charset="0"/>
                <a:ea typeface="Cambria" pitchFamily="34" charset="-122"/>
                <a:cs typeface="Cambria" pitchFamily="34" charset="-120"/>
              </a:rPr>
              <a:t>0.45 %</a:t>
            </a:r>
            <a:endParaRPr lang="en-US" sz="3600" dirty="0"/>
          </a:p>
        </p:txBody>
      </p:sp>
      <p:sp>
        <p:nvSpPr>
          <p:cNvPr id="19" name="Text 17"/>
          <p:cNvSpPr txBox="1"/>
          <p:nvPr/>
        </p:nvSpPr>
        <p:spPr>
          <a:xfrm>
            <a:off x="548640" y="4846320"/>
            <a:ext cx="3611880" cy="548640"/>
          </a:xfrm>
          <a:prstGeom prst="rect">
            <a:avLst/>
          </a:prstGeom>
          <a:noFill/>
          <a:ln/>
        </p:spPr>
        <p:txBody>
          <a:bodyPr wrap="square" lIns="0" tIns="0" rIns="0" bIns="0" rtlCol="0" anchor="t"/>
          <a:lstStyle/>
          <a:p>
            <a:pPr indent="0" marL="0">
              <a:buNone/>
            </a:pPr>
            <a:r>
              <a:rPr lang="en-US" sz="1300" dirty="0">
                <a:solidFill>
                  <a:schemeClr val="tx1"/>
                </a:solidFill>
              </a:rPr>
              <a:t>PSO mean gap to optimum over 366 days (95th pct 1.36 %)</a:t>
            </a:r>
            <a:endParaRPr lang="en-US" sz="1300" dirty="0"/>
          </a:p>
        </p:txBody>
      </p:sp>
      <p:sp>
        <p:nvSpPr>
          <p:cNvPr id="20" name="stat GA mean gap to optimum (95th pct 2.35 %)"/>
          <p:cNvSpPr txBox="1"/>
          <p:nvPr/>
        </p:nvSpPr>
        <p:spPr>
          <a:xfrm>
            <a:off x="4297680" y="4160520"/>
            <a:ext cx="3611880" cy="685800"/>
          </a:xfrm>
          <a:prstGeom prst="rect">
            <a:avLst/>
          </a:prstGeom>
          <a:noFill/>
          <a:ln/>
        </p:spPr>
        <p:txBody>
          <a:bodyPr wrap="square" lIns="0" tIns="0" rIns="0" bIns="0" rtlCol="0" anchor="ctr"/>
          <a:lstStyle/>
          <a:p>
            <a:pPr indent="0" marL="0">
              <a:buNone/>
            </a:pPr>
            <a:r>
              <a:rPr lang="en-US" sz="3600" b="1" dirty="0">
                <a:solidFill>
                  <a:srgbClr val="4A3AA7"/>
                </a:solidFill>
                <a:latin typeface="Cambria" pitchFamily="34" charset="0"/>
                <a:ea typeface="Cambria" pitchFamily="34" charset="-122"/>
                <a:cs typeface="Cambria" pitchFamily="34" charset="-120"/>
              </a:rPr>
              <a:t>1.34 %</a:t>
            </a:r>
            <a:endParaRPr lang="en-US" sz="3600" dirty="0"/>
          </a:p>
        </p:txBody>
      </p:sp>
      <p:sp>
        <p:nvSpPr>
          <p:cNvPr id="21" name="Text 19"/>
          <p:cNvSpPr txBox="1"/>
          <p:nvPr/>
        </p:nvSpPr>
        <p:spPr>
          <a:xfrm>
            <a:off x="4297680" y="4846320"/>
            <a:ext cx="3611880" cy="548640"/>
          </a:xfrm>
          <a:prstGeom prst="rect">
            <a:avLst/>
          </a:prstGeom>
          <a:noFill/>
          <a:ln/>
        </p:spPr>
        <p:txBody>
          <a:bodyPr wrap="square" lIns="0" tIns="0" rIns="0" bIns="0" rtlCol="0" anchor="t"/>
          <a:lstStyle/>
          <a:p>
            <a:pPr indent="0" marL="0">
              <a:buNone/>
            </a:pPr>
            <a:r>
              <a:rPr lang="en-US" sz="1300" dirty="0">
                <a:solidFill>
                  <a:schemeClr val="tx1"/>
                </a:solidFill>
              </a:rPr>
              <a:t>GA mean gap to optimum (95th pct 2.35 %)</a:t>
            </a:r>
            <a:endParaRPr lang="en-US" sz="1300" dirty="0"/>
          </a:p>
        </p:txBody>
      </p:sp>
      <p:sp>
        <p:nvSpPr>
          <p:cNvPr id="22" name="stat PSO solve time per day (GA 354 ms, LP 3 ms)"/>
          <p:cNvSpPr txBox="1"/>
          <p:nvPr/>
        </p:nvSpPr>
        <p:spPr>
          <a:xfrm>
            <a:off x="8046720" y="4160520"/>
            <a:ext cx="3566160" cy="685800"/>
          </a:xfrm>
          <a:prstGeom prst="rect">
            <a:avLst/>
          </a:prstGeom>
          <a:noFill/>
          <a:ln/>
        </p:spPr>
        <p:txBody>
          <a:bodyPr wrap="square" lIns="0" tIns="0" rIns="0" bIns="0" rtlCol="0" anchor="ctr"/>
          <a:lstStyle/>
          <a:p>
            <a:pPr indent="0" marL="0">
              <a:buNone/>
            </a:pPr>
            <a:r>
              <a:rPr lang="en-US" sz="3600" b="1" dirty="0">
                <a:solidFill>
                  <a:srgbClr val="1BAF7A"/>
                </a:solidFill>
                <a:latin typeface="Cambria" pitchFamily="34" charset="0"/>
                <a:ea typeface="Cambria" pitchFamily="34" charset="-122"/>
                <a:cs typeface="Cambria" pitchFamily="34" charset="-120"/>
              </a:rPr>
              <a:t>273 ms</a:t>
            </a:r>
            <a:endParaRPr lang="en-US" sz="3600" dirty="0"/>
          </a:p>
        </p:txBody>
      </p:sp>
      <p:sp>
        <p:nvSpPr>
          <p:cNvPr id="23" name="Text 21"/>
          <p:cNvSpPr txBox="1"/>
          <p:nvPr/>
        </p:nvSpPr>
        <p:spPr>
          <a:xfrm>
            <a:off x="8046720" y="4846320"/>
            <a:ext cx="3566160" cy="548640"/>
          </a:xfrm>
          <a:prstGeom prst="rect">
            <a:avLst/>
          </a:prstGeom>
          <a:noFill/>
          <a:ln/>
        </p:spPr>
        <p:txBody>
          <a:bodyPr wrap="square" lIns="0" tIns="0" rIns="0" bIns="0" rtlCol="0" anchor="t"/>
          <a:lstStyle/>
          <a:p>
            <a:pPr indent="0" marL="0">
              <a:buNone/>
            </a:pPr>
            <a:r>
              <a:rPr lang="en-US" sz="1300" dirty="0">
                <a:solidFill>
                  <a:schemeClr val="tx1"/>
                </a:solidFill>
              </a:rPr>
              <a:t>PSO solve time per day (GA 354 ms, LP 3 ms)</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Solution quality over every day of the year</a:t>
            </a:r>
            <a:endParaRPr lang="en-US" sz="3000" dirty="0"/>
          </a:p>
        </p:txBody>
      </p:sp>
      <p:pic>
        <p:nvPicPr>
          <p:cNvPr id="3" name="Optimality" descr="Optimality">    </p:cNvPr>
          <p:cNvPicPr>
            <a:picLocks noChangeAspect="1"/>
          </p:cNvPicPr>
          <p:nvPr/>
        </p:nvPicPr>
        <p:blipFill>
          <a:blip r:embed="rId1"/>
          <a:stretch>
            <a:fillRect/>
          </a:stretch>
        </p:blipFill>
        <p:spPr>
          <a:xfrm>
            <a:off x="548640" y="1280160"/>
            <a:ext cx="11064240" cy="3026541"/>
          </a:xfrm>
          <a:prstGeom prst="rect">
            <a:avLst/>
          </a:prstGeom>
        </p:spPr>
      </p:pic>
      <p:sp>
        <p:nvSpPr>
          <p:cNvPr id="4" name="Text 1"/>
          <p:cNvSpPr txBox="1"/>
          <p:nvPr/>
        </p:nvSpPr>
        <p:spPr>
          <a:xfrm>
            <a:off x="548640" y="5715000"/>
            <a:ext cx="11064240" cy="548640"/>
          </a:xfrm>
          <a:prstGeom prst="rect">
            <a:avLst/>
          </a:prstGeom>
          <a:noFill/>
          <a:ln/>
        </p:spPr>
        <p:txBody>
          <a:bodyPr wrap="square" lIns="0" tIns="0" rIns="0" bIns="0" rtlCol="0" anchor="ctr"/>
          <a:lstStyle/>
          <a:p>
            <a:pPr indent="0" marL="0">
              <a:buNone/>
            </a:pPr>
            <a:r>
              <a:rPr lang="en-US" sz="1400" dirty="0">
                <a:solidFill>
                  <a:srgbClr val="1B1B1B"/>
                </a:solidFill>
              </a:rPr>
              <a:t>PSO beat GA on 330 of 366 days. Left: gap to the exact LP optimum. Middle: improvement over no battery. Right: convergence on the peak day.</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Optimal sizing by GA and PSO</a:t>
            </a:r>
            <a:endParaRPr lang="en-US" sz="3000" dirty="0"/>
          </a:p>
        </p:txBody>
      </p:sp>
      <p:pic>
        <p:nvPicPr>
          <p:cNvPr id="3" name="Sizing" descr="Sizing">    </p:cNvPr>
          <p:cNvPicPr>
            <a:picLocks noChangeAspect="1"/>
          </p:cNvPicPr>
          <p:nvPr/>
        </p:nvPicPr>
        <p:blipFill>
          <a:blip r:embed="rId1"/>
          <a:stretch>
            <a:fillRect/>
          </a:stretch>
        </p:blipFill>
        <p:spPr>
          <a:xfrm>
            <a:off x="703659" y="1234440"/>
            <a:ext cx="10754201" cy="3566160"/>
          </a:xfrm>
          <a:prstGeom prst="rect">
            <a:avLst/>
          </a:prstGeom>
        </p:spPr>
      </p:pic>
      <p:sp>
        <p:nvSpPr>
          <p:cNvPr id="4" name="stat PV (hits the roof/carport limit: PV pays back)"/>
          <p:cNvSpPr txBox="1"/>
          <p:nvPr/>
        </p:nvSpPr>
        <p:spPr>
          <a:xfrm>
            <a:off x="548640" y="4892040"/>
            <a:ext cx="2651760" cy="685800"/>
          </a:xfrm>
          <a:prstGeom prst="rect">
            <a:avLst/>
          </a:prstGeom>
          <a:noFill/>
          <a:ln/>
        </p:spPr>
        <p:txBody>
          <a:bodyPr wrap="square" lIns="0" tIns="0" rIns="0" bIns="0" rtlCol="0" anchor="ctr"/>
          <a:lstStyle/>
          <a:p>
            <a:pPr indent="0" marL="0">
              <a:buNone/>
            </a:pPr>
            <a:r>
              <a:rPr lang="en-US" sz="3600" b="1" dirty="0">
                <a:solidFill>
                  <a:srgbClr val="F2A900"/>
                </a:solidFill>
                <a:latin typeface="Cambria" pitchFamily="34" charset="0"/>
                <a:ea typeface="Cambria" pitchFamily="34" charset="-122"/>
                <a:cs typeface="Cambria" pitchFamily="34" charset="-120"/>
              </a:rPr>
              <a:t>300 kWp</a:t>
            </a:r>
            <a:endParaRPr lang="en-US" sz="3600" dirty="0"/>
          </a:p>
        </p:txBody>
      </p:sp>
      <p:sp>
        <p:nvSpPr>
          <p:cNvPr id="5" name="Text 2"/>
          <p:cNvSpPr txBox="1"/>
          <p:nvPr/>
        </p:nvSpPr>
        <p:spPr>
          <a:xfrm>
            <a:off x="548640" y="5577840"/>
            <a:ext cx="2651760" cy="548640"/>
          </a:xfrm>
          <a:prstGeom prst="rect">
            <a:avLst/>
          </a:prstGeom>
          <a:noFill/>
          <a:ln/>
        </p:spPr>
        <p:txBody>
          <a:bodyPr wrap="square" lIns="0" tIns="0" rIns="0" bIns="0" rtlCol="0" anchor="t"/>
          <a:lstStyle/>
          <a:p>
            <a:pPr indent="0" marL="0">
              <a:buNone/>
            </a:pPr>
            <a:r>
              <a:rPr lang="en-US" sz="1300" dirty="0">
                <a:solidFill>
                  <a:schemeClr val="tx1"/>
                </a:solidFill>
              </a:rPr>
              <a:t>PV (hits the roof/carport limit: PV pays back)</a:t>
            </a:r>
            <a:endParaRPr lang="en-US" sz="1300" dirty="0"/>
          </a:p>
        </p:txBody>
      </p:sp>
      <p:sp>
        <p:nvSpPr>
          <p:cNvPr id="6" name="stat battery at Rs 15,000/kWh"/>
          <p:cNvSpPr txBox="1"/>
          <p:nvPr/>
        </p:nvSpPr>
        <p:spPr>
          <a:xfrm>
            <a:off x="3337560" y="4892040"/>
            <a:ext cx="2651760" cy="685800"/>
          </a:xfrm>
          <a:prstGeom prst="rect">
            <a:avLst/>
          </a:prstGeom>
          <a:noFill/>
          <a:ln/>
        </p:spPr>
        <p:txBody>
          <a:bodyPr wrap="square" lIns="0" tIns="0" rIns="0" bIns="0" rtlCol="0" anchor="ctr"/>
          <a:lstStyle/>
          <a:p>
            <a:pPr indent="0" marL="0">
              <a:buNone/>
            </a:pPr>
            <a:r>
              <a:rPr lang="en-US" sz="3600" b="1" dirty="0">
                <a:solidFill>
                  <a:srgbClr val="2A78D6"/>
                </a:solidFill>
                <a:latin typeface="Cambria" pitchFamily="34" charset="0"/>
                <a:ea typeface="Cambria" pitchFamily="34" charset="-122"/>
                <a:cs typeface="Cambria" pitchFamily="34" charset="-120"/>
              </a:rPr>
              <a:t>49 kWh</a:t>
            </a:r>
            <a:endParaRPr lang="en-US" sz="3600" dirty="0"/>
          </a:p>
        </p:txBody>
      </p:sp>
      <p:sp>
        <p:nvSpPr>
          <p:cNvPr id="7" name="Text 4"/>
          <p:cNvSpPr txBox="1"/>
          <p:nvPr/>
        </p:nvSpPr>
        <p:spPr>
          <a:xfrm>
            <a:off x="3337560" y="5577840"/>
            <a:ext cx="2651760" cy="548640"/>
          </a:xfrm>
          <a:prstGeom prst="rect">
            <a:avLst/>
          </a:prstGeom>
          <a:noFill/>
          <a:ln/>
        </p:spPr>
        <p:txBody>
          <a:bodyPr wrap="square" lIns="0" tIns="0" rIns="0" bIns="0" rtlCol="0" anchor="t"/>
          <a:lstStyle/>
          <a:p>
            <a:pPr indent="0" marL="0">
              <a:buNone/>
            </a:pPr>
            <a:r>
              <a:rPr lang="en-US" sz="1300" dirty="0">
                <a:solidFill>
                  <a:schemeClr val="tx1"/>
                </a:solidFill>
              </a:rPr>
              <a:t>battery at Rs 15,000/kWh</a:t>
            </a:r>
            <a:endParaRPr lang="en-US" sz="1300" dirty="0"/>
          </a:p>
        </p:txBody>
      </p:sp>
      <p:sp>
        <p:nvSpPr>
          <p:cNvPr id="8" name="stat wind: Hyderabad wind too weak (CUF ~3 %)"/>
          <p:cNvSpPr txBox="1"/>
          <p:nvPr/>
        </p:nvSpPr>
        <p:spPr>
          <a:xfrm>
            <a:off x="6126480" y="4892040"/>
            <a:ext cx="2651760" cy="685800"/>
          </a:xfrm>
          <a:prstGeom prst="rect">
            <a:avLst/>
          </a:prstGeom>
          <a:noFill/>
          <a:ln/>
        </p:spPr>
        <p:txBody>
          <a:bodyPr wrap="square" lIns="0" tIns="0" rIns="0" bIns="0" rtlCol="0" anchor="ctr"/>
          <a:lstStyle/>
          <a:p>
            <a:pPr indent="0" marL="0">
              <a:buNone/>
            </a:pPr>
            <a:r>
              <a:rPr lang="en-US" sz="3600" b="1" dirty="0">
                <a:solidFill>
                  <a:srgbClr val="8A8984"/>
                </a:solidFill>
                <a:latin typeface="Cambria" pitchFamily="34" charset="0"/>
                <a:ea typeface="Cambria" pitchFamily="34" charset="-122"/>
                <a:cs typeface="Cambria" pitchFamily="34" charset="-120"/>
              </a:rPr>
              <a:t>0 kW</a:t>
            </a:r>
            <a:endParaRPr lang="en-US" sz="3600" dirty="0"/>
          </a:p>
        </p:txBody>
      </p:sp>
      <p:sp>
        <p:nvSpPr>
          <p:cNvPr id="9" name="Text 6"/>
          <p:cNvSpPr txBox="1"/>
          <p:nvPr/>
        </p:nvSpPr>
        <p:spPr>
          <a:xfrm>
            <a:off x="6126480" y="5577840"/>
            <a:ext cx="2651760" cy="548640"/>
          </a:xfrm>
          <a:prstGeom prst="rect">
            <a:avLst/>
          </a:prstGeom>
          <a:noFill/>
          <a:ln/>
        </p:spPr>
        <p:txBody>
          <a:bodyPr wrap="square" lIns="0" tIns="0" rIns="0" bIns="0" rtlCol="0" anchor="t"/>
          <a:lstStyle/>
          <a:p>
            <a:pPr indent="0" marL="0">
              <a:buNone/>
            </a:pPr>
            <a:r>
              <a:rPr lang="en-US" sz="1300" dirty="0">
                <a:solidFill>
                  <a:schemeClr val="tx1"/>
                </a:solidFill>
              </a:rPr>
              <a:t>wind: Hyderabad wind too weak (CUF ~3 %)</a:t>
            </a:r>
            <a:endParaRPr lang="en-US" sz="1300" dirty="0"/>
          </a:p>
        </p:txBody>
      </p:sp>
      <p:sp>
        <p:nvSpPr>
          <p:cNvPr id="10" name="stat lower total annual cost incl. capital (48.8 vs 61.2 lakh)"/>
          <p:cNvSpPr txBox="1"/>
          <p:nvPr/>
        </p:nvSpPr>
        <p:spPr>
          <a:xfrm>
            <a:off x="8915400" y="4892040"/>
            <a:ext cx="2697480" cy="685800"/>
          </a:xfrm>
          <a:prstGeom prst="rect">
            <a:avLst/>
          </a:prstGeom>
          <a:noFill/>
          <a:ln/>
        </p:spPr>
        <p:txBody>
          <a:bodyPr wrap="square" lIns="0" tIns="0" rIns="0" bIns="0" rtlCol="0" anchor="ctr"/>
          <a:lstStyle/>
          <a:p>
            <a:pPr indent="0" marL="0">
              <a:buNone/>
            </a:pPr>
            <a:r>
              <a:rPr lang="en-US" sz="3600" b="1" dirty="0">
                <a:solidFill>
                  <a:srgbClr val="1BAF7A"/>
                </a:solidFill>
                <a:latin typeface="Cambria" pitchFamily="34" charset="0"/>
                <a:ea typeface="Cambria" pitchFamily="34" charset="-122"/>
                <a:cs typeface="Cambria" pitchFamily="34" charset="-120"/>
              </a:rPr>
              <a:t>20.3 %</a:t>
            </a:r>
            <a:endParaRPr lang="en-US" sz="3600" dirty="0"/>
          </a:p>
        </p:txBody>
      </p:sp>
      <p:sp>
        <p:nvSpPr>
          <p:cNvPr id="11" name="Text 8"/>
          <p:cNvSpPr txBox="1"/>
          <p:nvPr/>
        </p:nvSpPr>
        <p:spPr>
          <a:xfrm>
            <a:off x="8915400" y="5577840"/>
            <a:ext cx="2697480" cy="548640"/>
          </a:xfrm>
          <a:prstGeom prst="rect">
            <a:avLst/>
          </a:prstGeom>
          <a:noFill/>
          <a:ln/>
        </p:spPr>
        <p:txBody>
          <a:bodyPr wrap="square" lIns="0" tIns="0" rIns="0" bIns="0" rtlCol="0" anchor="t"/>
          <a:lstStyle/>
          <a:p>
            <a:pPr indent="0" marL="0">
              <a:buNone/>
            </a:pPr>
            <a:r>
              <a:rPr lang="en-US" sz="1300" dirty="0">
                <a:solidFill>
                  <a:schemeClr val="tx1"/>
                </a:solidFill>
              </a:rPr>
              <a:t>lower total annual cost incl. capital (48.8 vs 61.2 lakh)</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How Adaptive-ReBIS shares power on the peak day</a:t>
            </a:r>
            <a:endParaRPr lang="en-US" sz="3000" dirty="0"/>
          </a:p>
        </p:txBody>
      </p:sp>
      <p:pic>
        <p:nvPicPr>
          <p:cNvPr id="3" name="Dispatch day" descr="Dispatch day">    </p:cNvPr>
          <p:cNvPicPr>
            <a:picLocks noChangeAspect="1"/>
          </p:cNvPicPr>
          <p:nvPr/>
        </p:nvPicPr>
        <p:blipFill>
          <a:blip r:embed="rId1"/>
          <a:stretch>
            <a:fillRect/>
          </a:stretch>
        </p:blipFill>
        <p:spPr>
          <a:xfrm>
            <a:off x="908543" y="1143000"/>
            <a:ext cx="6046755" cy="5212080"/>
          </a:xfrm>
          <a:prstGeom prst="rect">
            <a:avLst/>
          </a:prstGeom>
        </p:spPr>
      </p:pic>
      <p:sp>
        <p:nvSpPr>
          <p:cNvPr id="4" name="Text 1"/>
          <p:cNvSpPr txBox="1"/>
          <p:nvPr/>
        </p:nvSpPr>
        <p:spPr>
          <a:xfrm>
            <a:off x="7589520" y="1371600"/>
            <a:ext cx="4023360" cy="484632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Solar feeds the load first; surplus charges the battery at noon</a:t>
            </a:r>
            <a:endParaRPr lang="en-US" sz="1500" dirty="0"/>
          </a:p>
          <a:p>
            <a:pPr marL="342900" indent="-342900">
              <a:spcAft>
                <a:spcPts val="600"/>
              </a:spcAft>
              <a:buSzPct val="100000"/>
              <a:buChar char="•"/>
            </a:pPr>
            <a:r>
              <a:rPr lang="en-US" sz="1500" dirty="0">
                <a:solidFill>
                  <a:schemeClr val="tx1"/>
                </a:solidFill>
              </a:rPr>
              <a:t>Rule-based ReBIS spends its battery in the afternoon and is empty when the evening EV + lighting peak arrives</a:t>
            </a:r>
            <a:endParaRPr lang="en-US" sz="1500" dirty="0"/>
          </a:p>
          <a:p>
            <a:pPr marL="342900" indent="-342900">
              <a:spcAft>
                <a:spcPts val="600"/>
              </a:spcAft>
              <a:buSzPct val="100000"/>
              <a:buChar char="•"/>
            </a:pPr>
            <a:r>
              <a:rPr lang="en-US" sz="1500" dirty="0">
                <a:solidFill>
                  <a:schemeClr val="tx1"/>
                </a:solidFill>
              </a:rPr>
              <a:t>Adaptive-ReBIS holds charge for the 18-22 h ToD peak, guided by the forecast</a:t>
            </a:r>
            <a:endParaRPr lang="en-US" sz="1500" dirty="0"/>
          </a:p>
          <a:p>
            <a:pPr marL="342900" indent="-342900">
              <a:spcAft>
                <a:spcPts val="600"/>
              </a:spcAft>
              <a:buSzPct val="100000"/>
              <a:buChar char="•"/>
            </a:pPr>
            <a:r>
              <a:rPr lang="en-US" sz="1500" dirty="0">
                <a:solidFill>
                  <a:schemeClr val="tx1"/>
                </a:solidFill>
              </a:rPr>
              <a:t>Battery is refilled overnight at the off-peak tariff for the next morning peak</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Full-year results: Design A (economic optimum)</a:t>
            </a:r>
            <a:endParaRPr lang="en-US" sz="3000" dirty="0"/>
          </a:p>
        </p:txBody>
      </p:sp>
      <p:pic>
        <p:nvPicPr>
          <p:cNvPr id="3" name="Annual comparison Design A (economic optimum)" descr="Annual comparison Design A (economic optimum)">    </p:cNvPr>
          <p:cNvPicPr>
            <a:picLocks noChangeAspect="1"/>
          </p:cNvPicPr>
          <p:nvPr/>
        </p:nvPicPr>
        <p:blipFill>
          <a:blip r:embed="rId1"/>
          <a:stretch>
            <a:fillRect/>
          </a:stretch>
        </p:blipFill>
        <p:spPr>
          <a:xfrm>
            <a:off x="548640" y="1188720"/>
            <a:ext cx="11064240" cy="3164531"/>
          </a:xfrm>
          <a:prstGeom prst="rect">
            <a:avLst/>
          </a:prstGeom>
        </p:spPr>
      </p:pic>
      <p:sp>
        <p:nvSpPr>
          <p:cNvPr id="4" name="stat lower operating cost vs grid only (rule-based 41.4 %)"/>
          <p:cNvSpPr txBox="1"/>
          <p:nvPr/>
        </p:nvSpPr>
        <p:spPr>
          <a:xfrm>
            <a:off x="548640" y="4846320"/>
            <a:ext cx="2651760" cy="685800"/>
          </a:xfrm>
          <a:prstGeom prst="rect">
            <a:avLst/>
          </a:prstGeom>
          <a:noFill/>
          <a:ln/>
        </p:spPr>
        <p:txBody>
          <a:bodyPr wrap="square" lIns="0" tIns="0" rIns="0" bIns="0" rtlCol="0" anchor="ctr"/>
          <a:lstStyle/>
          <a:p>
            <a:pPr indent="0" marL="0">
              <a:buNone/>
            </a:pPr>
            <a:r>
              <a:rPr lang="en-US" sz="3600" b="1" dirty="0">
                <a:solidFill>
                  <a:srgbClr val="2A78D6"/>
                </a:solidFill>
                <a:latin typeface="Cambria" pitchFamily="34" charset="0"/>
                <a:ea typeface="Cambria" pitchFamily="34" charset="-122"/>
                <a:cs typeface="Cambria" pitchFamily="34" charset="-120"/>
              </a:rPr>
              <a:t>42.2 %</a:t>
            </a:r>
            <a:endParaRPr lang="en-US" sz="3600" dirty="0"/>
          </a:p>
        </p:txBody>
      </p:sp>
      <p:sp>
        <p:nvSpPr>
          <p:cNvPr id="5" name="Text 2"/>
          <p:cNvSpPr txBox="1"/>
          <p:nvPr/>
        </p:nvSpPr>
        <p:spPr>
          <a:xfrm>
            <a:off x="548640" y="5532120"/>
            <a:ext cx="2651760" cy="548640"/>
          </a:xfrm>
          <a:prstGeom prst="rect">
            <a:avLst/>
          </a:prstGeom>
          <a:noFill/>
          <a:ln/>
        </p:spPr>
        <p:txBody>
          <a:bodyPr wrap="square" lIns="0" tIns="0" rIns="0" bIns="0" rtlCol="0" anchor="t"/>
          <a:lstStyle/>
          <a:p>
            <a:pPr indent="0" marL="0">
              <a:buNone/>
            </a:pPr>
            <a:r>
              <a:rPr lang="en-US" sz="1300" dirty="0">
                <a:solidFill>
                  <a:schemeClr val="tx1"/>
                </a:solidFill>
              </a:rPr>
              <a:t>lower operating cost vs grid only (rule-based 41.4 %)</a:t>
            </a:r>
            <a:endParaRPr lang="en-US" sz="1300" dirty="0"/>
          </a:p>
        </p:txBody>
      </p:sp>
      <p:sp>
        <p:nvSpPr>
          <p:cNvPr id="6" name="stat lower annual peak (rule-based 7.9 %)"/>
          <p:cNvSpPr txBox="1"/>
          <p:nvPr/>
        </p:nvSpPr>
        <p:spPr>
          <a:xfrm>
            <a:off x="3337560" y="4846320"/>
            <a:ext cx="2651760" cy="685800"/>
          </a:xfrm>
          <a:prstGeom prst="rect">
            <a:avLst/>
          </a:prstGeom>
          <a:noFill/>
          <a:ln/>
        </p:spPr>
        <p:txBody>
          <a:bodyPr wrap="square" lIns="0" tIns="0" rIns="0" bIns="0" rtlCol="0" anchor="ctr"/>
          <a:lstStyle/>
          <a:p>
            <a:pPr indent="0" marL="0">
              <a:buNone/>
            </a:pPr>
            <a:r>
              <a:rPr lang="en-US" sz="3600" b="1" dirty="0">
                <a:solidFill>
                  <a:srgbClr val="2A78D6"/>
                </a:solidFill>
                <a:latin typeface="Cambria" pitchFamily="34" charset="0"/>
                <a:ea typeface="Cambria" pitchFamily="34" charset="-122"/>
                <a:cs typeface="Cambria" pitchFamily="34" charset="-120"/>
              </a:rPr>
              <a:t>14.5 %</a:t>
            </a:r>
            <a:endParaRPr lang="en-US" sz="3600" dirty="0"/>
          </a:p>
        </p:txBody>
      </p:sp>
      <p:sp>
        <p:nvSpPr>
          <p:cNvPr id="7" name="Text 4"/>
          <p:cNvSpPr txBox="1"/>
          <p:nvPr/>
        </p:nvSpPr>
        <p:spPr>
          <a:xfrm>
            <a:off x="3337560" y="5532120"/>
            <a:ext cx="2651760" cy="548640"/>
          </a:xfrm>
          <a:prstGeom prst="rect">
            <a:avLst/>
          </a:prstGeom>
          <a:noFill/>
          <a:ln/>
        </p:spPr>
        <p:txBody>
          <a:bodyPr wrap="square" lIns="0" tIns="0" rIns="0" bIns="0" rtlCol="0" anchor="t"/>
          <a:lstStyle/>
          <a:p>
            <a:pPr indent="0" marL="0">
              <a:buNone/>
            </a:pPr>
            <a:r>
              <a:rPr lang="en-US" sz="1300" dirty="0">
                <a:solidFill>
                  <a:schemeClr val="tx1"/>
                </a:solidFill>
              </a:rPr>
              <a:t>lower annual peak (rule-based 7.9 %)</a:t>
            </a:r>
            <a:endParaRPr lang="en-US" sz="1300" dirty="0"/>
          </a:p>
        </p:txBody>
      </p:sp>
      <p:sp>
        <p:nvSpPr>
          <p:cNvPr id="8" name="stat average daily peak (rule 134, grid only 145)"/>
          <p:cNvSpPr txBox="1"/>
          <p:nvPr/>
        </p:nvSpPr>
        <p:spPr>
          <a:xfrm>
            <a:off x="6126480" y="4846320"/>
            <a:ext cx="2651760" cy="685800"/>
          </a:xfrm>
          <a:prstGeom prst="rect">
            <a:avLst/>
          </a:prstGeom>
          <a:noFill/>
          <a:ln/>
        </p:spPr>
        <p:txBody>
          <a:bodyPr wrap="square" lIns="0" tIns="0" rIns="0" bIns="0" rtlCol="0" anchor="ctr"/>
          <a:lstStyle/>
          <a:p>
            <a:pPr indent="0" marL="0">
              <a:buNone/>
            </a:pPr>
            <a:r>
              <a:rPr lang="en-US" sz="3600" b="1" dirty="0">
                <a:solidFill>
                  <a:srgbClr val="2A78D6"/>
                </a:solidFill>
                <a:latin typeface="Cambria" pitchFamily="34" charset="0"/>
                <a:ea typeface="Cambria" pitchFamily="34" charset="-122"/>
                <a:cs typeface="Cambria" pitchFamily="34" charset="-120"/>
              </a:rPr>
              <a:t>121 kW</a:t>
            </a:r>
            <a:endParaRPr lang="en-US" sz="3600" dirty="0"/>
          </a:p>
        </p:txBody>
      </p:sp>
      <p:sp>
        <p:nvSpPr>
          <p:cNvPr id="9" name="Text 6"/>
          <p:cNvSpPr txBox="1"/>
          <p:nvPr/>
        </p:nvSpPr>
        <p:spPr>
          <a:xfrm>
            <a:off x="6126480" y="5532120"/>
            <a:ext cx="2651760" cy="548640"/>
          </a:xfrm>
          <a:prstGeom prst="rect">
            <a:avLst/>
          </a:prstGeom>
          <a:noFill/>
          <a:ln/>
        </p:spPr>
        <p:txBody>
          <a:bodyPr wrap="square" lIns="0" tIns="0" rIns="0" bIns="0" rtlCol="0" anchor="t"/>
          <a:lstStyle/>
          <a:p>
            <a:pPr indent="0" marL="0">
              <a:buNone/>
            </a:pPr>
            <a:r>
              <a:rPr lang="en-US" sz="1300" dirty="0">
                <a:solidFill>
                  <a:schemeClr val="tx1"/>
                </a:solidFill>
              </a:rPr>
              <a:t>average daily peak (rule 134, grid only 145)</a:t>
            </a:r>
            <a:endParaRPr lang="en-US" sz="1300" dirty="0"/>
          </a:p>
        </p:txBody>
      </p:sp>
      <p:sp>
        <p:nvSpPr>
          <p:cNvPr id="10" name="stat less CO2 (rule-based 45.3 %)"/>
          <p:cNvSpPr txBox="1"/>
          <p:nvPr/>
        </p:nvSpPr>
        <p:spPr>
          <a:xfrm>
            <a:off x="8915400" y="4846320"/>
            <a:ext cx="2697480" cy="685800"/>
          </a:xfrm>
          <a:prstGeom prst="rect">
            <a:avLst/>
          </a:prstGeom>
          <a:noFill/>
          <a:ln/>
        </p:spPr>
        <p:txBody>
          <a:bodyPr wrap="square" lIns="0" tIns="0" rIns="0" bIns="0" rtlCol="0" anchor="ctr"/>
          <a:lstStyle/>
          <a:p>
            <a:pPr indent="0" marL="0">
              <a:buNone/>
            </a:pPr>
            <a:r>
              <a:rPr lang="en-US" sz="3600" b="1" dirty="0">
                <a:solidFill>
                  <a:srgbClr val="1BAF7A"/>
                </a:solidFill>
                <a:latin typeface="Cambria" pitchFamily="34" charset="0"/>
                <a:ea typeface="Cambria" pitchFamily="34" charset="-122"/>
                <a:cs typeface="Cambria" pitchFamily="34" charset="-120"/>
              </a:rPr>
              <a:t>44.5 %</a:t>
            </a:r>
            <a:endParaRPr lang="en-US" sz="3600" dirty="0"/>
          </a:p>
        </p:txBody>
      </p:sp>
      <p:sp>
        <p:nvSpPr>
          <p:cNvPr id="11" name="Text 8"/>
          <p:cNvSpPr txBox="1"/>
          <p:nvPr/>
        </p:nvSpPr>
        <p:spPr>
          <a:xfrm>
            <a:off x="8915400" y="5532120"/>
            <a:ext cx="2697480" cy="548640"/>
          </a:xfrm>
          <a:prstGeom prst="rect">
            <a:avLst/>
          </a:prstGeom>
          <a:noFill/>
          <a:ln/>
        </p:spPr>
        <p:txBody>
          <a:bodyPr wrap="square" lIns="0" tIns="0" rIns="0" bIns="0" rtlCol="0" anchor="t"/>
          <a:lstStyle/>
          <a:p>
            <a:pPr indent="0" marL="0">
              <a:buNone/>
            </a:pPr>
            <a:r>
              <a:rPr lang="en-US" sz="1300" dirty="0">
                <a:solidFill>
                  <a:schemeClr val="tx1"/>
                </a:solidFill>
              </a:rPr>
              <a:t>less CO2 (rule-based 45.3 %)</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Full-year results: Design B (200 kWh grid-support battery)</a:t>
            </a:r>
            <a:endParaRPr lang="en-US" sz="3000" dirty="0"/>
          </a:p>
        </p:txBody>
      </p:sp>
      <p:pic>
        <p:nvPicPr>
          <p:cNvPr id="3" name="Annual comparison Design B (200 kWh grid-support battery)" descr="Annual comparison Design B (200 kWh grid-support battery)">    </p:cNvPr>
          <p:cNvPicPr>
            <a:picLocks noChangeAspect="1"/>
          </p:cNvPicPr>
          <p:nvPr/>
        </p:nvPicPr>
        <p:blipFill>
          <a:blip r:embed="rId1"/>
          <a:stretch>
            <a:fillRect/>
          </a:stretch>
        </p:blipFill>
        <p:spPr>
          <a:xfrm>
            <a:off x="548640" y="1188720"/>
            <a:ext cx="11064240" cy="3164531"/>
          </a:xfrm>
          <a:prstGeom prst="rect">
            <a:avLst/>
          </a:prstGeom>
        </p:spPr>
      </p:pic>
      <p:sp>
        <p:nvSpPr>
          <p:cNvPr id="4" name="stat lower operating cost vs grid only (rule-based 41.4 %)"/>
          <p:cNvSpPr txBox="1"/>
          <p:nvPr/>
        </p:nvSpPr>
        <p:spPr>
          <a:xfrm>
            <a:off x="548640" y="4846320"/>
            <a:ext cx="2651760" cy="685800"/>
          </a:xfrm>
          <a:prstGeom prst="rect">
            <a:avLst/>
          </a:prstGeom>
          <a:noFill/>
          <a:ln/>
        </p:spPr>
        <p:txBody>
          <a:bodyPr wrap="square" lIns="0" tIns="0" rIns="0" bIns="0" rtlCol="0" anchor="ctr"/>
          <a:lstStyle/>
          <a:p>
            <a:pPr indent="0" marL="0">
              <a:buNone/>
            </a:pPr>
            <a:r>
              <a:rPr lang="en-US" sz="3600" b="1" dirty="0">
                <a:solidFill>
                  <a:srgbClr val="2A78D6"/>
                </a:solidFill>
                <a:latin typeface="Cambria" pitchFamily="34" charset="0"/>
                <a:ea typeface="Cambria" pitchFamily="34" charset="-122"/>
                <a:cs typeface="Cambria" pitchFamily="34" charset="-120"/>
              </a:rPr>
              <a:t>43.1 %</a:t>
            </a:r>
            <a:endParaRPr lang="en-US" sz="3600" dirty="0"/>
          </a:p>
        </p:txBody>
      </p:sp>
      <p:sp>
        <p:nvSpPr>
          <p:cNvPr id="5" name="Text 2"/>
          <p:cNvSpPr txBox="1"/>
          <p:nvPr/>
        </p:nvSpPr>
        <p:spPr>
          <a:xfrm>
            <a:off x="548640" y="5532120"/>
            <a:ext cx="2651760" cy="548640"/>
          </a:xfrm>
          <a:prstGeom prst="rect">
            <a:avLst/>
          </a:prstGeom>
          <a:noFill/>
          <a:ln/>
        </p:spPr>
        <p:txBody>
          <a:bodyPr wrap="square" lIns="0" tIns="0" rIns="0" bIns="0" rtlCol="0" anchor="t"/>
          <a:lstStyle/>
          <a:p>
            <a:pPr indent="0" marL="0">
              <a:buNone/>
            </a:pPr>
            <a:r>
              <a:rPr lang="en-US" sz="1300" dirty="0">
                <a:solidFill>
                  <a:schemeClr val="tx1"/>
                </a:solidFill>
              </a:rPr>
              <a:t>lower operating cost vs grid only (rule-based 41.4 %)</a:t>
            </a:r>
            <a:endParaRPr lang="en-US" sz="1300" dirty="0"/>
          </a:p>
        </p:txBody>
      </p:sp>
      <p:sp>
        <p:nvSpPr>
          <p:cNvPr id="6" name="stat lower annual peak (rule-based 9.7 %)"/>
          <p:cNvSpPr txBox="1"/>
          <p:nvPr/>
        </p:nvSpPr>
        <p:spPr>
          <a:xfrm>
            <a:off x="3337560" y="4846320"/>
            <a:ext cx="2651760" cy="685800"/>
          </a:xfrm>
          <a:prstGeom prst="rect">
            <a:avLst/>
          </a:prstGeom>
          <a:noFill/>
          <a:ln/>
        </p:spPr>
        <p:txBody>
          <a:bodyPr wrap="square" lIns="0" tIns="0" rIns="0" bIns="0" rtlCol="0" anchor="ctr"/>
          <a:lstStyle/>
          <a:p>
            <a:pPr indent="0" marL="0">
              <a:buNone/>
            </a:pPr>
            <a:r>
              <a:rPr lang="en-US" sz="3600" b="1" dirty="0">
                <a:solidFill>
                  <a:srgbClr val="2A78D6"/>
                </a:solidFill>
                <a:latin typeface="Cambria" pitchFamily="34" charset="0"/>
                <a:ea typeface="Cambria" pitchFamily="34" charset="-122"/>
                <a:cs typeface="Cambria" pitchFamily="34" charset="-120"/>
              </a:rPr>
              <a:t>13.0 %</a:t>
            </a:r>
            <a:endParaRPr lang="en-US" sz="3600" dirty="0"/>
          </a:p>
        </p:txBody>
      </p:sp>
      <p:sp>
        <p:nvSpPr>
          <p:cNvPr id="7" name="Text 4"/>
          <p:cNvSpPr txBox="1"/>
          <p:nvPr/>
        </p:nvSpPr>
        <p:spPr>
          <a:xfrm>
            <a:off x="3337560" y="5532120"/>
            <a:ext cx="2651760" cy="548640"/>
          </a:xfrm>
          <a:prstGeom prst="rect">
            <a:avLst/>
          </a:prstGeom>
          <a:noFill/>
          <a:ln/>
        </p:spPr>
        <p:txBody>
          <a:bodyPr wrap="square" lIns="0" tIns="0" rIns="0" bIns="0" rtlCol="0" anchor="t"/>
          <a:lstStyle/>
          <a:p>
            <a:pPr indent="0" marL="0">
              <a:buNone/>
            </a:pPr>
            <a:r>
              <a:rPr lang="en-US" sz="1300" dirty="0">
                <a:solidFill>
                  <a:schemeClr val="tx1"/>
                </a:solidFill>
              </a:rPr>
              <a:t>lower annual peak (rule-based 9.7 %)</a:t>
            </a:r>
            <a:endParaRPr lang="en-US" sz="1300" dirty="0"/>
          </a:p>
        </p:txBody>
      </p:sp>
      <p:sp>
        <p:nvSpPr>
          <p:cNvPr id="8" name="stat average daily peak (rule 130, grid only 145)"/>
          <p:cNvSpPr txBox="1"/>
          <p:nvPr/>
        </p:nvSpPr>
        <p:spPr>
          <a:xfrm>
            <a:off x="6126480" y="4846320"/>
            <a:ext cx="2651760" cy="685800"/>
          </a:xfrm>
          <a:prstGeom prst="rect">
            <a:avLst/>
          </a:prstGeom>
          <a:noFill/>
          <a:ln/>
        </p:spPr>
        <p:txBody>
          <a:bodyPr wrap="square" lIns="0" tIns="0" rIns="0" bIns="0" rtlCol="0" anchor="ctr"/>
          <a:lstStyle/>
          <a:p>
            <a:pPr indent="0" marL="0">
              <a:buNone/>
            </a:pPr>
            <a:r>
              <a:rPr lang="en-US" sz="3600" b="1" dirty="0">
                <a:solidFill>
                  <a:srgbClr val="2A78D6"/>
                </a:solidFill>
                <a:latin typeface="Cambria" pitchFamily="34" charset="0"/>
                <a:ea typeface="Cambria" pitchFamily="34" charset="-122"/>
                <a:cs typeface="Cambria" pitchFamily="34" charset="-120"/>
              </a:rPr>
              <a:t>103 kW</a:t>
            </a:r>
            <a:endParaRPr lang="en-US" sz="3600" dirty="0"/>
          </a:p>
        </p:txBody>
      </p:sp>
      <p:sp>
        <p:nvSpPr>
          <p:cNvPr id="9" name="Text 6"/>
          <p:cNvSpPr txBox="1"/>
          <p:nvPr/>
        </p:nvSpPr>
        <p:spPr>
          <a:xfrm>
            <a:off x="6126480" y="5532120"/>
            <a:ext cx="2651760" cy="548640"/>
          </a:xfrm>
          <a:prstGeom prst="rect">
            <a:avLst/>
          </a:prstGeom>
          <a:noFill/>
          <a:ln/>
        </p:spPr>
        <p:txBody>
          <a:bodyPr wrap="square" lIns="0" tIns="0" rIns="0" bIns="0" rtlCol="0" anchor="t"/>
          <a:lstStyle/>
          <a:p>
            <a:pPr indent="0" marL="0">
              <a:buNone/>
            </a:pPr>
            <a:r>
              <a:rPr lang="en-US" sz="1300" dirty="0">
                <a:solidFill>
                  <a:schemeClr val="tx1"/>
                </a:solidFill>
              </a:rPr>
              <a:t>average daily peak (rule 130, grid only 145)</a:t>
            </a:r>
            <a:endParaRPr lang="en-US" sz="1300" dirty="0"/>
          </a:p>
        </p:txBody>
      </p:sp>
      <p:sp>
        <p:nvSpPr>
          <p:cNvPr id="10" name="stat less CO2 (rule-based 50.3 %)"/>
          <p:cNvSpPr txBox="1"/>
          <p:nvPr/>
        </p:nvSpPr>
        <p:spPr>
          <a:xfrm>
            <a:off x="8915400" y="4846320"/>
            <a:ext cx="2697480" cy="685800"/>
          </a:xfrm>
          <a:prstGeom prst="rect">
            <a:avLst/>
          </a:prstGeom>
          <a:noFill/>
          <a:ln/>
        </p:spPr>
        <p:txBody>
          <a:bodyPr wrap="square" lIns="0" tIns="0" rIns="0" bIns="0" rtlCol="0" anchor="ctr"/>
          <a:lstStyle/>
          <a:p>
            <a:pPr indent="0" marL="0">
              <a:buNone/>
            </a:pPr>
            <a:r>
              <a:rPr lang="en-US" sz="3600" b="1" dirty="0">
                <a:solidFill>
                  <a:srgbClr val="1BAF7A"/>
                </a:solidFill>
                <a:latin typeface="Cambria" pitchFamily="34" charset="0"/>
                <a:ea typeface="Cambria" pitchFamily="34" charset="-122"/>
                <a:cs typeface="Cambria" pitchFamily="34" charset="-120"/>
              </a:rPr>
              <a:t>48.3 %</a:t>
            </a:r>
            <a:endParaRPr lang="en-US" sz="3600" dirty="0"/>
          </a:p>
        </p:txBody>
      </p:sp>
      <p:sp>
        <p:nvSpPr>
          <p:cNvPr id="11" name="Text 8"/>
          <p:cNvSpPr txBox="1"/>
          <p:nvPr/>
        </p:nvSpPr>
        <p:spPr>
          <a:xfrm>
            <a:off x="8915400" y="5532120"/>
            <a:ext cx="2697480" cy="548640"/>
          </a:xfrm>
          <a:prstGeom prst="rect">
            <a:avLst/>
          </a:prstGeom>
          <a:noFill/>
          <a:ln/>
        </p:spPr>
        <p:txBody>
          <a:bodyPr wrap="square" lIns="0" tIns="0" rIns="0" bIns="0" rtlCol="0" anchor="t"/>
          <a:lstStyle/>
          <a:p>
            <a:pPr indent="0" marL="0">
              <a:buNone/>
            </a:pPr>
            <a:r>
              <a:rPr lang="en-US" sz="1300" dirty="0">
                <a:solidFill>
                  <a:schemeClr val="tx1"/>
                </a:solidFill>
              </a:rPr>
              <a:t>less CO2 (rule-based 50.3 %)</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Battery size: where the adaptive EMS earns its keep</a:t>
            </a:r>
            <a:endParaRPr lang="en-US" sz="3000" dirty="0"/>
          </a:p>
        </p:txBody>
      </p:sp>
      <p:pic>
        <p:nvPicPr>
          <p:cNvPr id="3" name="Battery sensitivity" descr="Battery sensitivity">    </p:cNvPr>
          <p:cNvPicPr>
            <a:picLocks noChangeAspect="1"/>
          </p:cNvPicPr>
          <p:nvPr/>
        </p:nvPicPr>
        <p:blipFill>
          <a:blip r:embed="rId1"/>
          <a:stretch>
            <a:fillRect/>
          </a:stretch>
        </p:blipFill>
        <p:spPr>
          <a:xfrm>
            <a:off x="548640" y="1188720"/>
            <a:ext cx="11064240" cy="3026541"/>
          </a:xfrm>
          <a:prstGeom prst="rect">
            <a:avLst/>
          </a:prstGeom>
        </p:spPr>
      </p:pic>
      <p:sp>
        <p:nvSpPr>
          <p:cNvPr id="4" name="Text 1"/>
          <p:cNvSpPr txBox="1"/>
          <p:nvPr/>
        </p:nvSpPr>
        <p:spPr>
          <a:xfrm>
            <a:off x="548640" y="5166360"/>
            <a:ext cx="11064240" cy="118872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chemeClr val="tx1"/>
                </a:solidFill>
              </a:rPr>
              <a:t>At every battery size the adaptive EMS gives a lower daily peak than the rule (200 kWh: 104 vs 130 kW)</a:t>
            </a:r>
            <a:endParaRPr lang="en-US" sz="1400" dirty="0"/>
          </a:p>
          <a:p>
            <a:pPr marL="342900" indent="-342900">
              <a:spcAft>
                <a:spcPts val="600"/>
              </a:spcAft>
              <a:buSzPct val="100000"/>
              <a:buChar char="•"/>
            </a:pPr>
            <a:r>
              <a:rPr lang="en-US" sz="1400" dirty="0">
                <a:solidFill>
                  <a:schemeClr val="tx1"/>
                </a:solidFill>
              </a:rPr>
              <a:t>The rule-based scheme barely uses extra capacity for peak shaving; the forecast-driven plan does</a:t>
            </a:r>
            <a:endParaRPr lang="en-US" sz="1400" dirty="0"/>
          </a:p>
          <a:p>
            <a:pPr marL="342900" indent="-342900">
              <a:spcAft>
                <a:spcPts val="600"/>
              </a:spcAft>
              <a:buSzPct val="100000"/>
              <a:buChar char="•"/>
            </a:pPr>
            <a:r>
              <a:rPr lang="en-US" sz="1400" dirty="0">
                <a:solidFill>
                  <a:schemeClr val="tx1"/>
                </a:solidFill>
              </a:rPr>
              <a:t>Trade-off: the adaptive plan cycles the battery more, so CO2 and wear are slightly higher; the weights are tunable</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IEEE 33-bus and 69-bus: load-flow model first validated</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931920"/>
                <a:gridCol w="2194560"/>
                <a:gridCol w="2377440"/>
                <a:gridCol w="2560320"/>
              </a:tblGrid>
              <a:tr h="502920">
                <a:tc>
                  <a:txBody>
                    <a:bodyPr/>
                    <a:lstStyle/>
                    <a:p>
                      <a:pPr algn="ctr" indent="0" marL="0">
                        <a:buNone/>
                      </a:pPr>
                      <a:r>
                        <a:rPr lang="en-US" sz="1500" b="1" dirty="0">
                          <a:solidFill>
                            <a:srgbClr val="FFFFFF"/>
                          </a:solidFill>
                        </a:rPr>
                        <a:t>Base case</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500" b="1" dirty="0">
                          <a:solidFill>
                            <a:srgbClr val="FFFFFF"/>
                          </a:solidFill>
                        </a:rPr>
                        <a:t>Published</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500" b="1" dirty="0">
                          <a:solidFill>
                            <a:srgbClr val="FFFFFF"/>
                          </a:solidFill>
                        </a:rPr>
                        <a:t>pandapower (NR)</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500" b="1" dirty="0">
                          <a:solidFill>
                            <a:srgbClr val="FFFFFF"/>
                          </a:solidFill>
                        </a:rPr>
                        <a:t>Our BFS solver</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r>
              <a:tr h="502920">
                <a:tc>
                  <a:txBody>
                    <a:bodyPr/>
                    <a:lstStyle/>
                    <a:p>
                      <a:pPr algn="ctr" indent="0" marL="0">
                        <a:buNone/>
                      </a:pPr>
                      <a:r>
                        <a:rPr lang="en-US" sz="1500" dirty="0">
                          <a:solidFill>
                            <a:srgbClr val="1B1B1B"/>
                          </a:solidFill>
                        </a:rPr>
                        <a:t>33-bus real power loss (kW)</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500" dirty="0">
                          <a:solidFill>
                            <a:srgbClr val="1B1B1B"/>
                          </a:solidFill>
                        </a:rPr>
                        <a:t>202.67</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500" dirty="0">
                          <a:solidFill>
                            <a:srgbClr val="1B1B1B"/>
                          </a:solidFill>
                        </a:rPr>
                        <a:t>202.68</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500" dirty="0">
                          <a:solidFill>
                            <a:srgbClr val="1B1B1B"/>
                          </a:solidFill>
                        </a:rPr>
                        <a:t>202.68</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502920">
                <a:tc>
                  <a:txBody>
                    <a:bodyPr/>
                    <a:lstStyle/>
                    <a:p>
                      <a:pPr algn="ctr" indent="0" marL="0">
                        <a:buNone/>
                      </a:pPr>
                      <a:r>
                        <a:rPr lang="en-US" sz="1500" dirty="0">
                          <a:solidFill>
                            <a:srgbClr val="1B1B1B"/>
                          </a:solidFill>
                        </a:rPr>
                        <a:t>33-bus minimum voltage (pu)</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500" dirty="0">
                          <a:solidFill>
                            <a:srgbClr val="1B1B1B"/>
                          </a:solidFill>
                        </a:rPr>
                        <a:t>0.913</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500" dirty="0">
                          <a:solidFill>
                            <a:srgbClr val="1B1B1B"/>
                          </a:solidFill>
                        </a:rPr>
                        <a:t>0.913</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500" dirty="0">
                          <a:solidFill>
                            <a:srgbClr val="1B1B1B"/>
                          </a:solidFill>
                        </a:rPr>
                        <a:t>0.913 @ bus 18</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502920">
                <a:tc>
                  <a:txBody>
                    <a:bodyPr/>
                    <a:lstStyle/>
                    <a:p>
                      <a:pPr algn="ctr" indent="0" marL="0">
                        <a:buNone/>
                      </a:pPr>
                      <a:r>
                        <a:rPr lang="en-US" sz="1500" dirty="0">
                          <a:solidFill>
                            <a:srgbClr val="1B1B1B"/>
                          </a:solidFill>
                        </a:rPr>
                        <a:t>69-bus real power loss (kW)</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500" dirty="0">
                          <a:solidFill>
                            <a:srgbClr val="1B1B1B"/>
                          </a:solidFill>
                        </a:rPr>
                        <a:t>224.95</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500" dirty="0">
                          <a:solidFill>
                            <a:srgbClr val="1B1B1B"/>
                          </a:solidFill>
                        </a:rPr>
                        <a:t>224.96</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500" dirty="0">
                          <a:solidFill>
                            <a:srgbClr val="1B1B1B"/>
                          </a:solidFill>
                        </a:rPr>
                        <a:t>224.96</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502920">
                <a:tc>
                  <a:txBody>
                    <a:bodyPr/>
                    <a:lstStyle/>
                    <a:p>
                      <a:pPr algn="ctr" indent="0" marL="0">
                        <a:buNone/>
                      </a:pPr>
                      <a:r>
                        <a:rPr lang="en-US" sz="1500" dirty="0">
                          <a:solidFill>
                            <a:srgbClr val="1B1B1B"/>
                          </a:solidFill>
                        </a:rPr>
                        <a:t>69-bus minimum voltage (pu)</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500" dirty="0">
                          <a:solidFill>
                            <a:srgbClr val="1B1B1B"/>
                          </a:solidFill>
                        </a:rPr>
                        <a:t>0.909</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500" dirty="0">
                          <a:solidFill>
                            <a:srgbClr val="1B1B1B"/>
                          </a:solidFill>
                        </a:rPr>
                        <a:t>0.909</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500" dirty="0">
                          <a:solidFill>
                            <a:srgbClr val="1B1B1B"/>
                          </a:solidFill>
                        </a:rPr>
                        <a:t>0.909 @ bus 65</a:t>
                      </a:r>
                      <a:endParaRPr lang="en-US" sz="150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bl>
          </a:graphicData>
        </a:graphic>
      </p:graphicFrame>
      <p:sp>
        <p:nvSpPr>
          <p:cNvPr id="4" name="Text 1"/>
          <p:cNvSpPr txBox="1"/>
          <p:nvPr/>
        </p:nvSpPr>
        <p:spPr>
          <a:xfrm>
            <a:off x="548640" y="4069080"/>
            <a:ext cx="11064240" cy="228600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Two independent solvers: pandapower (Newton-Raphson, open-source) and our own backward/forward sweep</a:t>
            </a:r>
            <a:endParaRPr lang="en-US" sz="1500" dirty="0"/>
          </a:p>
          <a:p>
            <a:pPr marL="342900" indent="-342900">
              <a:spcAft>
                <a:spcPts val="600"/>
              </a:spcAft>
              <a:buSzPct val="100000"/>
              <a:buChar char="•"/>
            </a:pPr>
            <a:r>
              <a:rPr lang="en-US" sz="1500" dirty="0">
                <a:solidFill>
                  <a:schemeClr val="tx1"/>
                </a:solidFill>
              </a:rPr>
              <a:t>Hour-by-hour cross-check with the sites connected: max voltage difference 2.0e-8 pu</a:t>
            </a:r>
            <a:endParaRPr lang="en-US" sz="1500" dirty="0"/>
          </a:p>
          <a:p>
            <a:pPr marL="342900" indent="-342900">
              <a:spcAft>
                <a:spcPts val="600"/>
              </a:spcAft>
              <a:buSzPct val="100000"/>
              <a:buChar char="•"/>
            </a:pPr>
            <a:r>
              <a:rPr lang="en-US" sz="1500" dirty="0">
                <a:solidFill>
                  <a:schemeClr val="tx1"/>
                </a:solidFill>
              </a:rPr>
              <a:t>Our BFS is vectorised over all 8784 hours, so a full year of load flow takes about one second</a:t>
            </a:r>
            <a:endParaRPr lang="en-US" sz="1500" dirty="0"/>
          </a:p>
          <a:p>
            <a:pPr marL="342900" indent="-342900">
              <a:spcAft>
                <a:spcPts val="600"/>
              </a:spcAft>
              <a:buSzPct val="100000"/>
              <a:buChar char="•"/>
            </a:pPr>
            <a:r>
              <a:rPr lang="en-US" sz="1500" dirty="0">
                <a:solidFill>
                  <a:schemeClr val="tx1"/>
                </a:solidFill>
              </a:rPr>
              <a:t>5 identical Adaptive-ReBIS sites at the feeder tails: 33-bus 18, 22, 25, 30, 33  |  69-bus 27, 35, 46, 50, 65</a:t>
            </a:r>
            <a:endParaRPr lang="en-US" sz="1500" dirty="0"/>
          </a:p>
          <a:p>
            <a:pPr marL="342900" indent="-342900">
              <a:spcAft>
                <a:spcPts val="600"/>
              </a:spcAft>
              <a:buSzPct val="100000"/>
              <a:buChar char="•"/>
            </a:pPr>
            <a:r>
              <a:rPr lang="en-US" sz="1500" dirty="0">
                <a:solidFill>
                  <a:schemeClr val="tx1"/>
                </a:solidFill>
              </a:rPr>
              <a:t>Existing feeder load follows a daily shape peaking at 20:00 (the published bus load = 1.0)</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Feeder impact over the year (Design A)</a:t>
            </a:r>
            <a:endParaRPr lang="en-US" sz="3000" dirty="0"/>
          </a:p>
        </p:txBody>
      </p:sp>
      <p:pic>
        <p:nvPicPr>
          <p:cNvPr id="3" name="Voltage profile A" descr="Voltage profile A">    </p:cNvPr>
          <p:cNvPicPr>
            <a:picLocks noChangeAspect="1"/>
          </p:cNvPicPr>
          <p:nvPr/>
        </p:nvPicPr>
        <p:blipFill>
          <a:blip r:embed="rId1"/>
          <a:stretch>
            <a:fillRect/>
          </a:stretch>
        </p:blipFill>
        <p:spPr>
          <a:xfrm>
            <a:off x="971038" y="1143000"/>
            <a:ext cx="10219444" cy="3291840"/>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11064240" cy="914400"/>
        </p:xfrm>
        <a:graphic>
          <a:graphicData uri="http://schemas.openxmlformats.org/drawingml/2006/table">
            <a:tbl>
              <a:tblPr/>
              <a:tblGrid>
                <a:gridCol w="2286000"/>
                <a:gridCol w="1234440"/>
                <a:gridCol w="1234440"/>
                <a:gridCol w="1325880"/>
                <a:gridCol w="1234440"/>
                <a:gridCol w="1234440"/>
                <a:gridCol w="1234440"/>
                <a:gridCol w="1280160"/>
              </a:tblGrid>
              <a:tr h="338328">
                <a:tc>
                  <a:txBody>
                    <a:bodyPr/>
                    <a:lstStyle/>
                    <a:p>
                      <a:pPr algn="ctr" indent="0" marL="0">
                        <a:buNone/>
                      </a:pPr>
                      <a:r>
                        <a:rPr lang="en-US" sz="1150" b="1" dirty="0">
                          <a:solidFill>
                            <a:srgbClr val="FFFFFF"/>
                          </a:solidFill>
                        </a:rPr>
                        <a:t>Case (5 sites)</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150" b="1" dirty="0">
                          <a:solidFill>
                            <a:srgbClr val="FFFFFF"/>
                          </a:solidFill>
                        </a:rPr>
                        <a:t>33-bus lowest V, pu</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150" b="1" dirty="0">
                          <a:solidFill>
                            <a:srgbClr val="FFFFFF"/>
                          </a:solidFill>
                        </a:rPr>
                        <a:t>33-bus hours &lt; 0.91</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150" b="1" dirty="0">
                          <a:solidFill>
                            <a:srgbClr val="FFFFFF"/>
                          </a:solidFill>
                        </a:rPr>
                        <a:t>33-bus bus-hours &lt; 0.91</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150" b="1" dirty="0">
                          <a:solidFill>
                            <a:srgbClr val="FFFFFF"/>
                          </a:solidFill>
                        </a:rPr>
                        <a:t>33-bus losses, MWh/yr</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150" b="1" dirty="0">
                          <a:solidFill>
                            <a:srgbClr val="FFFFFF"/>
                          </a:solidFill>
                        </a:rPr>
                        <a:t>69-bus lowest V, pu</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150" b="1" dirty="0">
                          <a:solidFill>
                            <a:srgbClr val="FFFFFF"/>
                          </a:solidFill>
                        </a:rPr>
                        <a:t>69-bus hours &lt; 0.91</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150" b="1" dirty="0">
                          <a:solidFill>
                            <a:srgbClr val="FFFFFF"/>
                          </a:solidFill>
                        </a:rPr>
                        <a:t>69-bus bus-hours &lt; 0.91</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r>
              <a:tr h="338328">
                <a:tc>
                  <a:txBody>
                    <a:bodyPr/>
                    <a:lstStyle/>
                    <a:p>
                      <a:pPr algn="ctr" indent="0" marL="0">
                        <a:buNone/>
                      </a:pPr>
                      <a:r>
                        <a:rPr lang="en-US" sz="1150" dirty="0">
                          <a:solidFill>
                            <a:srgbClr val="1B1B1B"/>
                          </a:solidFill>
                        </a:rPr>
                        <a:t>Base feeder, no sites</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0.913</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0</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0</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983</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0.909</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732</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1464</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338328">
                <a:tc>
                  <a:txBody>
                    <a:bodyPr/>
                    <a:lstStyle/>
                    <a:p>
                      <a:pPr algn="ctr" indent="0" marL="0">
                        <a:buNone/>
                      </a:pPr>
                      <a:r>
                        <a:rPr lang="en-US" sz="1150" dirty="0">
                          <a:solidFill>
                            <a:srgbClr val="1B1B1B"/>
                          </a:solidFill>
                        </a:rPr>
                        <a:t>Grid only</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0.883</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1704</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11730</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1295</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0.895</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1239</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5329</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338328">
                <a:tc>
                  <a:txBody>
                    <a:bodyPr/>
                    <a:lstStyle/>
                    <a:p>
                      <a:pPr algn="ctr" indent="0" marL="0">
                        <a:buNone/>
                      </a:pPr>
                      <a:r>
                        <a:rPr lang="en-US" sz="1150" dirty="0">
                          <a:solidFill>
                            <a:srgbClr val="1B1B1B"/>
                          </a:solidFill>
                        </a:rPr>
                        <a:t>Rule-based ReBIS</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0.883</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1503</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10702</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1148</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0.895</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1181</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5210</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338328">
                <a:tc>
                  <a:txBody>
                    <a:bodyPr/>
                    <a:lstStyle/>
                    <a:p>
                      <a:pPr algn="ctr" indent="0" marL="0">
                        <a:buNone/>
                      </a:pPr>
                      <a:r>
                        <a:rPr lang="en-US" sz="1150" b="1" dirty="0">
                          <a:solidFill>
                            <a:srgbClr val="2A78D6"/>
                          </a:solidFill>
                        </a:rPr>
                        <a:t>Adaptive-ReBIS (PSO)</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b="1" dirty="0">
                          <a:solidFill>
                            <a:srgbClr val="2A78D6"/>
                          </a:solidFill>
                        </a:rPr>
                        <a:t>0.885</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b="1" dirty="0">
                          <a:solidFill>
                            <a:srgbClr val="2A78D6"/>
                          </a:solidFill>
                        </a:rPr>
                        <a:t>1584</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b="1" dirty="0">
                          <a:solidFill>
                            <a:srgbClr val="2A78D6"/>
                          </a:solidFill>
                        </a:rPr>
                        <a:t>10649</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b="1" dirty="0">
                          <a:solidFill>
                            <a:srgbClr val="2A78D6"/>
                          </a:solidFill>
                        </a:rPr>
                        <a:t>1148</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b="1" dirty="0">
                          <a:solidFill>
                            <a:srgbClr val="2A78D6"/>
                          </a:solidFill>
                        </a:rPr>
                        <a:t>0.896</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b="1" dirty="0">
                          <a:solidFill>
                            <a:srgbClr val="2A78D6"/>
                          </a:solidFill>
                        </a:rPr>
                        <a:t>1237</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b="1" dirty="0">
                          <a:solidFill>
                            <a:srgbClr val="2A78D6"/>
                          </a:solidFill>
                        </a:rPr>
                        <a:t>5235</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Feeder impact over the year (Design B)</a:t>
            </a:r>
            <a:endParaRPr lang="en-US" sz="3000" dirty="0"/>
          </a:p>
        </p:txBody>
      </p:sp>
      <p:pic>
        <p:nvPicPr>
          <p:cNvPr id="3" name="Voltage profile B" descr="Voltage profile B">    </p:cNvPr>
          <p:cNvPicPr>
            <a:picLocks noChangeAspect="1"/>
          </p:cNvPicPr>
          <p:nvPr/>
        </p:nvPicPr>
        <p:blipFill>
          <a:blip r:embed="rId1"/>
          <a:stretch>
            <a:fillRect/>
          </a:stretch>
        </p:blipFill>
        <p:spPr>
          <a:xfrm>
            <a:off x="971038" y="1143000"/>
            <a:ext cx="10219444" cy="3291840"/>
          </a:xfrm>
          <a:prstGeom prst="rect">
            <a:avLst/>
          </a:prstGeom>
        </p:spPr>
      </p:pic>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11064240" cy="914400"/>
        </p:xfrm>
        <a:graphic>
          <a:graphicData uri="http://schemas.openxmlformats.org/drawingml/2006/table">
            <a:tbl>
              <a:tblPr/>
              <a:tblGrid>
                <a:gridCol w="2286000"/>
                <a:gridCol w="1234440"/>
                <a:gridCol w="1234440"/>
                <a:gridCol w="1325880"/>
                <a:gridCol w="1234440"/>
                <a:gridCol w="1234440"/>
                <a:gridCol w="1234440"/>
                <a:gridCol w="1280160"/>
              </a:tblGrid>
              <a:tr h="338328">
                <a:tc>
                  <a:txBody>
                    <a:bodyPr/>
                    <a:lstStyle/>
                    <a:p>
                      <a:pPr algn="ctr" indent="0" marL="0">
                        <a:buNone/>
                      </a:pPr>
                      <a:r>
                        <a:rPr lang="en-US" sz="1150" b="1" dirty="0">
                          <a:solidFill>
                            <a:srgbClr val="FFFFFF"/>
                          </a:solidFill>
                        </a:rPr>
                        <a:t>Case (5 sites)</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150" b="1" dirty="0">
                          <a:solidFill>
                            <a:srgbClr val="FFFFFF"/>
                          </a:solidFill>
                        </a:rPr>
                        <a:t>33-bus lowest V, pu</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150" b="1" dirty="0">
                          <a:solidFill>
                            <a:srgbClr val="FFFFFF"/>
                          </a:solidFill>
                        </a:rPr>
                        <a:t>33-bus hours &lt; 0.91</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150" b="1" dirty="0">
                          <a:solidFill>
                            <a:srgbClr val="FFFFFF"/>
                          </a:solidFill>
                        </a:rPr>
                        <a:t>33-bus bus-hours &lt; 0.91</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150" b="1" dirty="0">
                          <a:solidFill>
                            <a:srgbClr val="FFFFFF"/>
                          </a:solidFill>
                        </a:rPr>
                        <a:t>33-bus losses, MWh/yr</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150" b="1" dirty="0">
                          <a:solidFill>
                            <a:srgbClr val="FFFFFF"/>
                          </a:solidFill>
                        </a:rPr>
                        <a:t>69-bus lowest V, pu</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150" b="1" dirty="0">
                          <a:solidFill>
                            <a:srgbClr val="FFFFFF"/>
                          </a:solidFill>
                        </a:rPr>
                        <a:t>69-bus hours &lt; 0.91</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c>
                  <a:txBody>
                    <a:bodyPr/>
                    <a:lstStyle/>
                    <a:p>
                      <a:pPr algn="ctr" indent="0" marL="0">
                        <a:buNone/>
                      </a:pPr>
                      <a:r>
                        <a:rPr lang="en-US" sz="1150" b="1" dirty="0">
                          <a:solidFill>
                            <a:srgbClr val="FFFFFF"/>
                          </a:solidFill>
                        </a:rPr>
                        <a:t>69-bus bus-hours &lt; 0.91</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0F2236"/>
                    </a:solidFill>
                  </a:tcPr>
                </a:tc>
              </a:tr>
              <a:tr h="338328">
                <a:tc>
                  <a:txBody>
                    <a:bodyPr/>
                    <a:lstStyle/>
                    <a:p>
                      <a:pPr algn="ctr" indent="0" marL="0">
                        <a:buNone/>
                      </a:pPr>
                      <a:r>
                        <a:rPr lang="en-US" sz="1150" dirty="0">
                          <a:solidFill>
                            <a:srgbClr val="1B1B1B"/>
                          </a:solidFill>
                        </a:rPr>
                        <a:t>Base feeder, no sites</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0.913</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0</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0</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983</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0.909</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732</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1464</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338328">
                <a:tc>
                  <a:txBody>
                    <a:bodyPr/>
                    <a:lstStyle/>
                    <a:p>
                      <a:pPr algn="ctr" indent="0" marL="0">
                        <a:buNone/>
                      </a:pPr>
                      <a:r>
                        <a:rPr lang="en-US" sz="1150" dirty="0">
                          <a:solidFill>
                            <a:srgbClr val="1B1B1B"/>
                          </a:solidFill>
                        </a:rPr>
                        <a:t>Grid only</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0.883</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1704</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11730</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1295</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0.895</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1239</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5329</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338328">
                <a:tc>
                  <a:txBody>
                    <a:bodyPr/>
                    <a:lstStyle/>
                    <a:p>
                      <a:pPr algn="ctr" indent="0" marL="0">
                        <a:buNone/>
                      </a:pPr>
                      <a:r>
                        <a:rPr lang="en-US" sz="1150" dirty="0">
                          <a:solidFill>
                            <a:srgbClr val="1B1B1B"/>
                          </a:solidFill>
                        </a:rPr>
                        <a:t>Rule-based ReBIS</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0.883</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1322</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9782</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1145</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0.895</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1107</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dirty="0">
                          <a:solidFill>
                            <a:srgbClr val="1B1B1B"/>
                          </a:solidFill>
                        </a:rPr>
                        <a:t>4885</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338328">
                <a:tc>
                  <a:txBody>
                    <a:bodyPr/>
                    <a:lstStyle/>
                    <a:p>
                      <a:pPr algn="ctr" indent="0" marL="0">
                        <a:buNone/>
                      </a:pPr>
                      <a:r>
                        <a:rPr lang="en-US" sz="1150" b="1" dirty="0">
                          <a:solidFill>
                            <a:srgbClr val="2A78D6"/>
                          </a:solidFill>
                        </a:rPr>
                        <a:t>Adaptive-ReBIS (PSO)</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b="1" dirty="0">
                          <a:solidFill>
                            <a:srgbClr val="2A78D6"/>
                          </a:solidFill>
                        </a:rPr>
                        <a:t>0.886</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b="1" dirty="0">
                          <a:solidFill>
                            <a:srgbClr val="2A78D6"/>
                          </a:solidFill>
                        </a:rPr>
                        <a:t>1558</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b="1" dirty="0">
                          <a:solidFill>
                            <a:srgbClr val="2A78D6"/>
                          </a:solidFill>
                        </a:rPr>
                        <a:t>9078</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b="1" dirty="0">
                          <a:solidFill>
                            <a:srgbClr val="2A78D6"/>
                          </a:solidFill>
                        </a:rPr>
                        <a:t>1142</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b="1" dirty="0">
                          <a:solidFill>
                            <a:srgbClr val="2A78D6"/>
                          </a:solidFill>
                        </a:rPr>
                        <a:t>0.896</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b="1" dirty="0">
                          <a:solidFill>
                            <a:srgbClr val="2A78D6"/>
                          </a:solidFill>
                        </a:rPr>
                        <a:t>1200</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150" b="1" dirty="0">
                          <a:solidFill>
                            <a:srgbClr val="2A78D6"/>
                          </a:solidFill>
                        </a:rPr>
                        <a:t>4555</a:t>
                      </a:r>
                      <a:endParaRPr lang="en-US" sz="1150" dirty="0"/>
                    </a:p>
                  </a:txBody>
                  <a:tcPr marL="91440" marR="91440" marT="45720" marB="45720">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Lowest feeder voltage across the year</a:t>
            </a:r>
            <a:endParaRPr lang="en-US" sz="3000" dirty="0"/>
          </a:p>
        </p:txBody>
      </p:sp>
      <p:pic>
        <p:nvPicPr>
          <p:cNvPr id="3" name="Voltage duration" descr="Voltage duration">    </p:cNvPr>
          <p:cNvPicPr>
            <a:picLocks noChangeAspect="1"/>
          </p:cNvPicPr>
          <p:nvPr/>
        </p:nvPicPr>
        <p:blipFill>
          <a:blip r:embed="rId1"/>
          <a:stretch>
            <a:fillRect/>
          </a:stretch>
        </p:blipFill>
        <p:spPr>
          <a:xfrm>
            <a:off x="548640" y="1188720"/>
            <a:ext cx="11064240" cy="3404382"/>
          </a:xfrm>
          <a:prstGeom prst="rect">
            <a:avLst/>
          </a:prstGeom>
        </p:spPr>
      </p:pic>
      <p:sp>
        <p:nvSpPr>
          <p:cNvPr id="4" name="Text 1"/>
          <p:cNvSpPr txBox="1"/>
          <p:nvPr/>
        </p:nvSpPr>
        <p:spPr>
          <a:xfrm>
            <a:off x="548640" y="5257800"/>
            <a:ext cx="11064240" cy="109728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chemeClr val="tx1"/>
                </a:solidFill>
              </a:rPr>
              <a:t>Duration curve: hours of the year sorted from the lowest voltage up; the left edge is the worst hours</a:t>
            </a:r>
            <a:endParaRPr lang="en-US" sz="1400" dirty="0"/>
          </a:p>
          <a:p>
            <a:pPr marL="342900" indent="-342900">
              <a:spcAft>
                <a:spcPts val="600"/>
              </a:spcAft>
              <a:buSzPct val="100000"/>
              <a:buChar char="•"/>
            </a:pPr>
            <a:r>
              <a:rPr lang="en-US" sz="1400" dirty="0">
                <a:solidFill>
                  <a:schemeClr val="tx1"/>
                </a:solidFill>
              </a:rPr>
              <a:t>Reliability (Monte-Carlo, 200 years of random outages, about 48 per year): Adaptive-ReBIS serves 70 % of outage-time demand with the 200 kWh battery (rule-based 50 %; 51 % with 49 kWh), because it keeps charge in reserve. Grid-tied PV without a battery serves 0 % (anti-islanding)</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Implementation and live demo</a:t>
            </a:r>
            <a:endParaRPr lang="en-US" sz="3000" dirty="0"/>
          </a:p>
        </p:txBody>
      </p:sp>
      <p:sp>
        <p:nvSpPr>
          <p:cNvPr id="3" name="Shape 1"/>
          <p:cNvSpPr/>
          <p:nvPr/>
        </p:nvSpPr>
        <p:spPr>
          <a:xfrm>
            <a:off x="548640" y="1280160"/>
            <a:ext cx="5852160" cy="868680"/>
          </a:xfrm>
          <a:prstGeom prst="roundRect">
            <a:avLst>
              <a:gd name="adj" fmla="val 8421"/>
            </a:avLst>
          </a:prstGeom>
          <a:solidFill>
            <a:schemeClr val="bg2"/>
          </a:solidFill>
          <a:ln/>
        </p:spPr>
      </p:sp>
      <p:sp>
        <p:nvSpPr>
          <p:cNvPr id="4" name="Shape 2"/>
          <p:cNvSpPr/>
          <p:nvPr/>
        </p:nvSpPr>
        <p:spPr>
          <a:xfrm>
            <a:off x="731520" y="1463040"/>
            <a:ext cx="457200" cy="457200"/>
          </a:xfrm>
          <a:prstGeom prst="ellipse">
            <a:avLst/>
          </a:prstGeom>
          <a:solidFill>
            <a:srgbClr val="F2A900"/>
          </a:solidFill>
          <a:ln/>
        </p:spPr>
      </p:sp>
      <p:sp>
        <p:nvSpPr>
          <p:cNvPr id="5" name="Text 3"/>
          <p:cNvSpPr txBox="1"/>
          <p:nvPr/>
        </p:nvSpPr>
        <p:spPr>
          <a:xfrm>
            <a:off x="731520" y="146304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6" name="Text 4"/>
          <p:cNvSpPr txBox="1"/>
          <p:nvPr/>
        </p:nvSpPr>
        <p:spPr>
          <a:xfrm>
            <a:off x="1325880" y="1435608"/>
            <a:ext cx="4937760" cy="502920"/>
          </a:xfrm>
          <a:prstGeom prst="rect">
            <a:avLst/>
          </a:prstGeom>
          <a:noFill/>
          <a:ln/>
        </p:spPr>
        <p:txBody>
          <a:bodyPr wrap="square" lIns="0" tIns="0" rIns="0" bIns="0" rtlCol="0" anchor="ctr"/>
          <a:lstStyle/>
          <a:p>
            <a:pPr indent="0" marL="0">
              <a:buNone/>
            </a:pPr>
            <a:r>
              <a:rPr lang="en-US" sz="1600" b="1" dirty="0">
                <a:solidFill>
                  <a:schemeClr val="tx2"/>
                </a:solidFill>
              </a:rPr>
              <a:t>Python + NumPy</a:t>
            </a:r>
            <a:endParaRPr lang="en-US" sz="1600" dirty="0"/>
          </a:p>
        </p:txBody>
      </p:sp>
      <p:sp>
        <p:nvSpPr>
          <p:cNvPr id="7" name="Shape 5"/>
          <p:cNvSpPr/>
          <p:nvPr/>
        </p:nvSpPr>
        <p:spPr>
          <a:xfrm>
            <a:off x="548640" y="2267712"/>
            <a:ext cx="5852160" cy="868680"/>
          </a:xfrm>
          <a:prstGeom prst="roundRect">
            <a:avLst>
              <a:gd name="adj" fmla="val 8421"/>
            </a:avLst>
          </a:prstGeom>
          <a:solidFill>
            <a:schemeClr val="bg2"/>
          </a:solidFill>
          <a:ln/>
        </p:spPr>
      </p:sp>
      <p:sp>
        <p:nvSpPr>
          <p:cNvPr id="8" name="Shape 6"/>
          <p:cNvSpPr/>
          <p:nvPr/>
        </p:nvSpPr>
        <p:spPr>
          <a:xfrm>
            <a:off x="731520" y="2450592"/>
            <a:ext cx="457200" cy="457200"/>
          </a:xfrm>
          <a:prstGeom prst="ellipse">
            <a:avLst/>
          </a:prstGeom>
          <a:solidFill>
            <a:srgbClr val="F2A900"/>
          </a:solidFill>
          <a:ln/>
        </p:spPr>
      </p:sp>
      <p:sp>
        <p:nvSpPr>
          <p:cNvPr id="9" name="Text 7"/>
          <p:cNvSpPr txBox="1"/>
          <p:nvPr/>
        </p:nvSpPr>
        <p:spPr>
          <a:xfrm>
            <a:off x="731520" y="2450592"/>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0" name="Text 8"/>
          <p:cNvSpPr txBox="1"/>
          <p:nvPr/>
        </p:nvSpPr>
        <p:spPr>
          <a:xfrm>
            <a:off x="1325880" y="2423160"/>
            <a:ext cx="4937760" cy="502920"/>
          </a:xfrm>
          <a:prstGeom prst="rect">
            <a:avLst/>
          </a:prstGeom>
          <a:noFill/>
          <a:ln/>
        </p:spPr>
        <p:txBody>
          <a:bodyPr wrap="square" lIns="0" tIns="0" rIns="0" bIns="0" rtlCol="0" anchor="ctr"/>
          <a:lstStyle/>
          <a:p>
            <a:pPr indent="0" marL="0">
              <a:buNone/>
            </a:pPr>
            <a:r>
              <a:rPr lang="en-US" sz="1600" b="1" dirty="0">
                <a:solidFill>
                  <a:schemeClr val="tx2"/>
                </a:solidFill>
              </a:rPr>
              <a:t>scikit-learn</a:t>
            </a:r>
            <a:endParaRPr lang="en-US" sz="1600" dirty="0"/>
          </a:p>
        </p:txBody>
      </p:sp>
      <p:sp>
        <p:nvSpPr>
          <p:cNvPr id="11" name="Shape 9"/>
          <p:cNvSpPr/>
          <p:nvPr/>
        </p:nvSpPr>
        <p:spPr>
          <a:xfrm>
            <a:off x="548640" y="3255264"/>
            <a:ext cx="5852160" cy="868680"/>
          </a:xfrm>
          <a:prstGeom prst="roundRect">
            <a:avLst>
              <a:gd name="adj" fmla="val 8421"/>
            </a:avLst>
          </a:prstGeom>
          <a:solidFill>
            <a:schemeClr val="bg2"/>
          </a:solidFill>
          <a:ln/>
        </p:spPr>
      </p:sp>
      <p:sp>
        <p:nvSpPr>
          <p:cNvPr id="12" name="Shape 10"/>
          <p:cNvSpPr/>
          <p:nvPr/>
        </p:nvSpPr>
        <p:spPr>
          <a:xfrm>
            <a:off x="731520" y="3438144"/>
            <a:ext cx="457200" cy="457200"/>
          </a:xfrm>
          <a:prstGeom prst="ellipse">
            <a:avLst/>
          </a:prstGeom>
          <a:solidFill>
            <a:srgbClr val="F2A900"/>
          </a:solidFill>
          <a:ln/>
        </p:spPr>
      </p:sp>
      <p:sp>
        <p:nvSpPr>
          <p:cNvPr id="13" name="Text 11"/>
          <p:cNvSpPr txBox="1"/>
          <p:nvPr/>
        </p:nvSpPr>
        <p:spPr>
          <a:xfrm>
            <a:off x="731520" y="3438144"/>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4" name="Text 12"/>
          <p:cNvSpPr txBox="1"/>
          <p:nvPr/>
        </p:nvSpPr>
        <p:spPr>
          <a:xfrm>
            <a:off x="1325880" y="3410712"/>
            <a:ext cx="4937760" cy="502920"/>
          </a:xfrm>
          <a:prstGeom prst="rect">
            <a:avLst/>
          </a:prstGeom>
          <a:noFill/>
          <a:ln/>
        </p:spPr>
        <p:txBody>
          <a:bodyPr wrap="square" lIns="0" tIns="0" rIns="0" bIns="0" rtlCol="0" anchor="ctr"/>
          <a:lstStyle/>
          <a:p>
            <a:pPr indent="0" marL="0">
              <a:buNone/>
            </a:pPr>
            <a:r>
              <a:rPr lang="en-US" sz="1600" b="1" dirty="0">
                <a:solidFill>
                  <a:schemeClr val="tx2"/>
                </a:solidFill>
              </a:rPr>
              <a:t>SciPy HiGHS</a:t>
            </a:r>
            <a:endParaRPr lang="en-US" sz="1600" dirty="0"/>
          </a:p>
        </p:txBody>
      </p:sp>
      <p:sp>
        <p:nvSpPr>
          <p:cNvPr id="15" name="Shape 13"/>
          <p:cNvSpPr/>
          <p:nvPr/>
        </p:nvSpPr>
        <p:spPr>
          <a:xfrm>
            <a:off x="548640" y="4242816"/>
            <a:ext cx="5852160" cy="868680"/>
          </a:xfrm>
          <a:prstGeom prst="roundRect">
            <a:avLst>
              <a:gd name="adj" fmla="val 8421"/>
            </a:avLst>
          </a:prstGeom>
          <a:solidFill>
            <a:schemeClr val="bg2"/>
          </a:solidFill>
          <a:ln/>
        </p:spPr>
      </p:sp>
      <p:sp>
        <p:nvSpPr>
          <p:cNvPr id="16" name="Shape 14"/>
          <p:cNvSpPr/>
          <p:nvPr/>
        </p:nvSpPr>
        <p:spPr>
          <a:xfrm>
            <a:off x="731520" y="4425696"/>
            <a:ext cx="457200" cy="457200"/>
          </a:xfrm>
          <a:prstGeom prst="ellipse">
            <a:avLst/>
          </a:prstGeom>
          <a:solidFill>
            <a:srgbClr val="F2A900"/>
          </a:solidFill>
          <a:ln/>
        </p:spPr>
      </p:sp>
      <p:sp>
        <p:nvSpPr>
          <p:cNvPr id="17" name="Text 15"/>
          <p:cNvSpPr txBox="1"/>
          <p:nvPr/>
        </p:nvSpPr>
        <p:spPr>
          <a:xfrm>
            <a:off x="731520" y="4425696"/>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8" name="Text 16"/>
          <p:cNvSpPr txBox="1"/>
          <p:nvPr/>
        </p:nvSpPr>
        <p:spPr>
          <a:xfrm>
            <a:off x="1325880" y="4398264"/>
            <a:ext cx="4937760" cy="502920"/>
          </a:xfrm>
          <a:prstGeom prst="rect">
            <a:avLst/>
          </a:prstGeom>
          <a:noFill/>
          <a:ln/>
        </p:spPr>
        <p:txBody>
          <a:bodyPr wrap="square" lIns="0" tIns="0" rIns="0" bIns="0" rtlCol="0" anchor="ctr"/>
          <a:lstStyle/>
          <a:p>
            <a:pPr indent="0" marL="0">
              <a:buNone/>
            </a:pPr>
            <a:r>
              <a:rPr lang="en-US" sz="1600" b="1" dirty="0">
                <a:solidFill>
                  <a:schemeClr val="tx2"/>
                </a:solidFill>
              </a:rPr>
              <a:t>pandapower + own BFS</a:t>
            </a:r>
            <a:endParaRPr lang="en-US" sz="1600" dirty="0"/>
          </a:p>
        </p:txBody>
      </p:sp>
      <p:sp>
        <p:nvSpPr>
          <p:cNvPr id="19" name="Shape 17"/>
          <p:cNvSpPr/>
          <p:nvPr/>
        </p:nvSpPr>
        <p:spPr>
          <a:xfrm>
            <a:off x="548640" y="5230368"/>
            <a:ext cx="5852160" cy="868680"/>
          </a:xfrm>
          <a:prstGeom prst="roundRect">
            <a:avLst>
              <a:gd name="adj" fmla="val 8421"/>
            </a:avLst>
          </a:prstGeom>
          <a:solidFill>
            <a:schemeClr val="bg2"/>
          </a:solidFill>
          <a:ln/>
        </p:spPr>
      </p:sp>
      <p:sp>
        <p:nvSpPr>
          <p:cNvPr id="20" name="Shape 18"/>
          <p:cNvSpPr/>
          <p:nvPr/>
        </p:nvSpPr>
        <p:spPr>
          <a:xfrm>
            <a:off x="731520" y="5413248"/>
            <a:ext cx="457200" cy="457200"/>
          </a:xfrm>
          <a:prstGeom prst="ellipse">
            <a:avLst/>
          </a:prstGeom>
          <a:solidFill>
            <a:srgbClr val="F2A900"/>
          </a:solidFill>
          <a:ln/>
        </p:spPr>
      </p:sp>
      <p:sp>
        <p:nvSpPr>
          <p:cNvPr id="21" name="Text 19"/>
          <p:cNvSpPr txBox="1"/>
          <p:nvPr/>
        </p:nvSpPr>
        <p:spPr>
          <a:xfrm>
            <a:off x="731520" y="5413248"/>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5</a:t>
            </a:r>
            <a:endParaRPr lang="en-US" sz="1600" dirty="0"/>
          </a:p>
        </p:txBody>
      </p:sp>
      <p:sp>
        <p:nvSpPr>
          <p:cNvPr id="22" name="Text 20"/>
          <p:cNvSpPr txBox="1"/>
          <p:nvPr/>
        </p:nvSpPr>
        <p:spPr>
          <a:xfrm>
            <a:off x="1325880" y="5385816"/>
            <a:ext cx="4937760" cy="502920"/>
          </a:xfrm>
          <a:prstGeom prst="rect">
            <a:avLst/>
          </a:prstGeom>
          <a:noFill/>
          <a:ln/>
        </p:spPr>
        <p:txBody>
          <a:bodyPr wrap="square" lIns="0" tIns="0" rIns="0" bIns="0" rtlCol="0" anchor="ctr"/>
          <a:lstStyle/>
          <a:p>
            <a:pPr indent="0" marL="0">
              <a:buNone/>
            </a:pPr>
            <a:r>
              <a:rPr lang="en-US" sz="1600" b="1" dirty="0">
                <a:solidFill>
                  <a:schemeClr val="tx2"/>
                </a:solidFill>
              </a:rPr>
              <a:t>Streamlit + Plotly</a:t>
            </a:r>
            <a:endParaRPr lang="en-US" sz="1600" dirty="0"/>
          </a:p>
        </p:txBody>
      </p:sp>
      <p:sp>
        <p:nvSpPr>
          <p:cNvPr id="23" name="Text 21"/>
          <p:cNvSpPr txBox="1"/>
          <p:nvPr/>
        </p:nvSpPr>
        <p:spPr>
          <a:xfrm>
            <a:off x="3977640" y="1280160"/>
            <a:ext cx="2331720" cy="868680"/>
          </a:xfrm>
          <a:prstGeom prst="rect">
            <a:avLst/>
          </a:prstGeom>
          <a:noFill/>
          <a:ln/>
        </p:spPr>
        <p:txBody>
          <a:bodyPr wrap="square" lIns="0" tIns="0" rIns="0" bIns="0" rtlCol="0" anchor="ctr"/>
          <a:lstStyle/>
          <a:p>
            <a:pPr indent="0" marL="0">
              <a:buNone/>
            </a:pPr>
            <a:r>
              <a:rPr lang="en-US" sz="1200" dirty="0">
                <a:solidFill>
                  <a:srgbClr val="1B1B1B"/>
                </a:solidFill>
              </a:rPr>
              <a:t>Simulation core, GA and PSO written from scratch, population-vectorised</a:t>
            </a:r>
            <a:endParaRPr lang="en-US" sz="1200" dirty="0"/>
          </a:p>
        </p:txBody>
      </p:sp>
      <p:sp>
        <p:nvSpPr>
          <p:cNvPr id="24" name="Text 22"/>
          <p:cNvSpPr txBox="1"/>
          <p:nvPr/>
        </p:nvSpPr>
        <p:spPr>
          <a:xfrm>
            <a:off x="3977640" y="2267712"/>
            <a:ext cx="2331720" cy="868680"/>
          </a:xfrm>
          <a:prstGeom prst="rect">
            <a:avLst/>
          </a:prstGeom>
          <a:noFill/>
          <a:ln/>
        </p:spPr>
        <p:txBody>
          <a:bodyPr wrap="square" lIns="0" tIns="0" rIns="0" bIns="0" rtlCol="0" anchor="ctr"/>
          <a:lstStyle/>
          <a:p>
            <a:pPr indent="0" marL="0">
              <a:buNone/>
            </a:pPr>
            <a:r>
              <a:rPr lang="en-US" sz="1200" dirty="0">
                <a:solidFill>
                  <a:srgbClr val="1B1B1B"/>
                </a:solidFill>
              </a:rPr>
              <a:t>Ridge, Random Forest, Gradient Boosting, Neural Network forecasters</a:t>
            </a:r>
            <a:endParaRPr lang="en-US" sz="1200" dirty="0"/>
          </a:p>
        </p:txBody>
      </p:sp>
      <p:sp>
        <p:nvSpPr>
          <p:cNvPr id="25" name="Text 23"/>
          <p:cNvSpPr txBox="1"/>
          <p:nvPr/>
        </p:nvSpPr>
        <p:spPr>
          <a:xfrm>
            <a:off x="3977640" y="3255264"/>
            <a:ext cx="2331720" cy="868680"/>
          </a:xfrm>
          <a:prstGeom prst="rect">
            <a:avLst/>
          </a:prstGeom>
          <a:noFill/>
          <a:ln/>
        </p:spPr>
        <p:txBody>
          <a:bodyPr wrap="square" lIns="0" tIns="0" rIns="0" bIns="0" rtlCol="0" anchor="ctr"/>
          <a:lstStyle/>
          <a:p>
            <a:pPr indent="0" marL="0">
              <a:buNone/>
            </a:pPr>
            <a:r>
              <a:rPr lang="en-US" sz="1200" dirty="0">
                <a:solidFill>
                  <a:srgbClr val="1B1B1B"/>
                </a:solidFill>
              </a:rPr>
              <a:t>Exact LP benchmark of the scheduling problem</a:t>
            </a:r>
            <a:endParaRPr lang="en-US" sz="1200" dirty="0"/>
          </a:p>
        </p:txBody>
      </p:sp>
      <p:sp>
        <p:nvSpPr>
          <p:cNvPr id="26" name="Text 24"/>
          <p:cNvSpPr txBox="1"/>
          <p:nvPr/>
        </p:nvSpPr>
        <p:spPr>
          <a:xfrm>
            <a:off x="3977640" y="4242816"/>
            <a:ext cx="2331720" cy="868680"/>
          </a:xfrm>
          <a:prstGeom prst="rect">
            <a:avLst/>
          </a:prstGeom>
          <a:noFill/>
          <a:ln/>
        </p:spPr>
        <p:txBody>
          <a:bodyPr wrap="square" lIns="0" tIns="0" rIns="0" bIns="0" rtlCol="0" anchor="ctr"/>
          <a:lstStyle/>
          <a:p>
            <a:pPr indent="0" marL="0">
              <a:buNone/>
            </a:pPr>
            <a:r>
              <a:rPr lang="en-US" sz="1200" dirty="0">
                <a:solidFill>
                  <a:srgbClr val="1B1B1B"/>
                </a:solidFill>
              </a:rPr>
              <a:t>IEEE 33/69-bus Newton-Raphson and backward/forward sweep load flow</a:t>
            </a:r>
            <a:endParaRPr lang="en-US" sz="1200" dirty="0"/>
          </a:p>
        </p:txBody>
      </p:sp>
      <p:sp>
        <p:nvSpPr>
          <p:cNvPr id="27" name="Text 25"/>
          <p:cNvSpPr txBox="1"/>
          <p:nvPr/>
        </p:nvSpPr>
        <p:spPr>
          <a:xfrm>
            <a:off x="3977640" y="5230368"/>
            <a:ext cx="2331720" cy="868680"/>
          </a:xfrm>
          <a:prstGeom prst="rect">
            <a:avLst/>
          </a:prstGeom>
          <a:noFill/>
          <a:ln/>
        </p:spPr>
        <p:txBody>
          <a:bodyPr wrap="square" lIns="0" tIns="0" rIns="0" bIns="0" rtlCol="0" anchor="ctr"/>
          <a:lstStyle/>
          <a:p>
            <a:pPr indent="0" marL="0">
              <a:buNone/>
            </a:pPr>
            <a:r>
              <a:rPr lang="en-US" sz="1200" dirty="0">
                <a:solidFill>
                  <a:srgbClr val="1B1B1B"/>
                </a:solidFill>
              </a:rPr>
              <a:t>Live dashboard: pick a day, PV / battery size, optimiser; EMS and feeder run live</a:t>
            </a:r>
            <a:endParaRPr lang="en-US" sz="1200" dirty="0"/>
          </a:p>
        </p:txBody>
      </p:sp>
      <p:sp>
        <p:nvSpPr>
          <p:cNvPr id="28" name="Shape 26"/>
          <p:cNvSpPr/>
          <p:nvPr/>
        </p:nvSpPr>
        <p:spPr>
          <a:xfrm>
            <a:off x="6675120" y="1280160"/>
            <a:ext cx="4937760" cy="4846320"/>
          </a:xfrm>
          <a:prstGeom prst="roundRect">
            <a:avLst>
              <a:gd name="adj" fmla="val 1509"/>
            </a:avLst>
          </a:prstGeom>
          <a:solidFill>
            <a:srgbClr val="0F2236"/>
          </a:solidFill>
          <a:ln/>
        </p:spPr>
      </p:sp>
      <p:sp>
        <p:nvSpPr>
          <p:cNvPr id="29" name="Text 27"/>
          <p:cNvSpPr txBox="1"/>
          <p:nvPr/>
        </p:nvSpPr>
        <p:spPr>
          <a:xfrm>
            <a:off x="6949440" y="1508760"/>
            <a:ext cx="4480560" cy="4480560"/>
          </a:xfrm>
          <a:prstGeom prst="rect">
            <a:avLst/>
          </a:prstGeom>
          <a:noFill/>
          <a:ln/>
        </p:spPr>
        <p:txBody>
          <a:bodyPr wrap="square" lIns="0" tIns="0" rIns="0" bIns="0" rtlCol="0" anchor="t"/>
          <a:lstStyle/>
          <a:p>
            <a:pPr indent="0" marL="0">
              <a:spcAft>
                <a:spcPts val="400"/>
              </a:spcAft>
              <a:buNone/>
            </a:pPr>
            <a:r>
              <a:rPr lang="en-US" sz="2000" b="1" dirty="0">
                <a:solidFill>
                  <a:srgbClr val="F2A900"/>
                </a:solidFill>
              </a:rPr>
              <a:t>Live demo</a:t>
            </a:r>
            <a:endParaRPr lang="en-US" sz="1600" dirty="0"/>
          </a:p>
          <a:p>
            <a:pPr indent="0" marL="0">
              <a:spcAft>
                <a:spcPts val="400"/>
              </a:spcAft>
              <a:buNone/>
            </a:pPr>
            <a:r>
              <a:rPr lang="en-US" sz="800" dirty="0">
                <a:solidFill>
                  <a:srgbClr val="EEF2F5"/>
                </a:solidFill>
              </a:rPr>
              <a:t> </a:t>
            </a:r>
            <a:endParaRPr lang="en-US" sz="1600" dirty="0"/>
          </a:p>
          <a:p>
            <a:pPr indent="0" marL="0">
              <a:spcAft>
                <a:spcPts val="400"/>
              </a:spcAft>
              <a:buNone/>
            </a:pPr>
            <a:r>
              <a:rPr lang="en-US" sz="1300" dirty="0">
                <a:solidFill>
                  <a:srgbClr val="FFFFFF"/>
                </a:solidFill>
              </a:rPr>
              <a:t>RUN_DASHBOARD.bat  (or  py -m streamlit run dashboard/app.py)</a:t>
            </a:r>
            <a:endParaRPr lang="en-US" sz="1600" dirty="0"/>
          </a:p>
          <a:p>
            <a:pPr indent="0" marL="0">
              <a:spcAft>
                <a:spcPts val="400"/>
              </a:spcAft>
              <a:buNone/>
            </a:pPr>
            <a:r>
              <a:rPr lang="en-US" sz="800" dirty="0">
                <a:solidFill>
                  <a:srgbClr val="EEF2F5"/>
                </a:solidFill>
              </a:rPr>
              <a:t> </a:t>
            </a:r>
            <a:endParaRPr lang="en-US" sz="1600" dirty="0"/>
          </a:p>
          <a:p>
            <a:pPr indent="0" marL="0">
              <a:spcAft>
                <a:spcPts val="400"/>
              </a:spcAft>
              <a:buNone/>
            </a:pPr>
            <a:r>
              <a:rPr lang="en-US" sz="1600" dirty="0">
                <a:solidFill>
                  <a:srgbClr val="EEF2F5"/>
                </a:solidFill>
              </a:rPr>
              <a:t>1. 15 May, PSO: grid peak vs rule-based and grid only</a:t>
            </a:r>
            <a:endParaRPr lang="en-US" sz="1600" dirty="0"/>
          </a:p>
          <a:p>
            <a:pPr indent="0" marL="0">
              <a:spcAft>
                <a:spcPts val="400"/>
              </a:spcAft>
              <a:buNone/>
            </a:pPr>
            <a:r>
              <a:rPr lang="en-US" sz="1600" dirty="0">
                <a:solidFill>
                  <a:srgbClr val="EEF2F5"/>
                </a:solidFill>
              </a:rPr>
              <a:t>2. Switch optimiser PSO / GA / LP: same answer, different speed</a:t>
            </a:r>
            <a:endParaRPr lang="en-US" sz="1600" dirty="0"/>
          </a:p>
          <a:p>
            <a:pPr indent="0" marL="0">
              <a:spcAft>
                <a:spcPts val="400"/>
              </a:spcAft>
              <a:buNone/>
            </a:pPr>
            <a:r>
              <a:rPr lang="en-US" sz="1600" dirty="0">
                <a:solidFill>
                  <a:srgbClr val="EEF2F5"/>
                </a:solidFill>
              </a:rPr>
              <a:t>3. Priority slider: lowest bill vs lowest grid peak</a:t>
            </a:r>
            <a:endParaRPr lang="en-US" sz="1600" dirty="0"/>
          </a:p>
          <a:p>
            <a:pPr indent="0" marL="0">
              <a:spcAft>
                <a:spcPts val="400"/>
              </a:spcAft>
              <a:buNone/>
            </a:pPr>
            <a:r>
              <a:rPr lang="en-US" sz="1600" dirty="0">
                <a:solidFill>
                  <a:srgbClr val="EEF2F5"/>
                </a:solidFill>
              </a:rPr>
              <a:t>4. IEEE feeder tab: tail voltage at 18:00 vs the 0.91 pu limit</a:t>
            </a:r>
            <a:endParaRPr lang="en-US" sz="1600" dirty="0"/>
          </a:p>
          <a:p>
            <a:pPr indent="0" marL="0">
              <a:spcAft>
                <a:spcPts val="400"/>
              </a:spcAft>
              <a:buNone/>
            </a:pPr>
            <a:r>
              <a:rPr lang="en-US" sz="1600" dirty="0">
                <a:solidFill>
                  <a:srgbClr val="EEF2F5"/>
                </a:solidFill>
              </a:rPr>
              <a:t>5. Forecast tab: ML vs persistence for that week</a:t>
            </a:r>
            <a:endParaRPr lang="en-US" sz="1600" dirty="0"/>
          </a:p>
          <a:p>
            <a:pPr indent="0" marL="0">
              <a:spcAft>
                <a:spcPts val="400"/>
              </a:spcAft>
              <a:buNone/>
            </a:pPr>
            <a:r>
              <a:rPr lang="en-US" sz="800" dirty="0">
                <a:solidFill>
                  <a:srgbClr val="EEF2F5"/>
                </a:solidFill>
              </a:rPr>
              <a:t> </a:t>
            </a:r>
            <a:endParaRPr lang="en-US" sz="1600" dirty="0"/>
          </a:p>
          <a:p>
            <a:pPr indent="0" marL="0">
              <a:spcAft>
                <a:spcPts val="400"/>
              </a:spcAft>
              <a:buNone/>
            </a:pPr>
            <a:r>
              <a:rPr lang="en-US" sz="1600" dirty="0">
                <a:solidFill>
                  <a:srgbClr val="F2A900"/>
                </a:solidFill>
              </a:rPr>
              <a:t>py run_all.py regenerates every number in this deck</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Conclusions and next steps</a:t>
            </a:r>
            <a:endParaRPr lang="en-US" sz="3000" dirty="0"/>
          </a:p>
        </p:txBody>
      </p:sp>
      <p:sp>
        <p:nvSpPr>
          <p:cNvPr id="3" name="Text 1"/>
          <p:cNvSpPr txBox="1"/>
          <p:nvPr/>
        </p:nvSpPr>
        <p:spPr>
          <a:xfrm>
            <a:off x="548640" y="1280160"/>
            <a:ext cx="6766560" cy="493776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chemeClr val="tx1"/>
                </a:solidFill>
              </a:rPr>
              <a:t>Forecast-driven GA / PSO scheduling beats the rule-based ReBIS on cost and peak at every battery size; PSO is within 0.45 % of the exact optimum on average</a:t>
            </a:r>
            <a:endParaRPr lang="en-US" sz="1700" dirty="0"/>
          </a:p>
          <a:p>
            <a:pPr marL="342900" indent="-342900">
              <a:spcAft>
                <a:spcPts val="600"/>
              </a:spcAft>
              <a:buSzPct val="100000"/>
              <a:buChar char="•"/>
            </a:pPr>
            <a:r>
              <a:rPr lang="en-US" sz="1700" dirty="0">
                <a:solidFill>
                  <a:schemeClr val="tx1"/>
                </a:solidFill>
              </a:rPr>
              <a:t>Economic design for Hyderabad: 300 kWp PV + 49 kWh battery, no wind; 42.2 % lower operating cost and 44.5 % less CO2 than grid only</a:t>
            </a:r>
            <a:endParaRPr lang="en-US" sz="1700" dirty="0"/>
          </a:p>
          <a:p>
            <a:pPr marL="342900" indent="-342900">
              <a:spcAft>
                <a:spcPts val="600"/>
              </a:spcAft>
              <a:buSzPct val="100000"/>
              <a:buChar char="•"/>
            </a:pPr>
            <a:r>
              <a:rPr lang="en-US" sz="1700" dirty="0">
                <a:solidFill>
                  <a:schemeClr val="tx1"/>
                </a:solidFill>
              </a:rPr>
              <a:t>On IEEE 33/69-bus feeders the adaptive scheme gives the shallowest voltage dips, fewest under-voltage bus-hours, lowest losses and substation peak; the ToD tariff windows do not match the feeder's stress hours, so a network signal is the next step</a:t>
            </a:r>
            <a:endParaRPr lang="en-US" sz="1700" dirty="0"/>
          </a:p>
          <a:p>
            <a:pPr marL="342900" indent="-342900">
              <a:spcAft>
                <a:spcPts val="600"/>
              </a:spcAft>
              <a:buSzPct val="100000"/>
              <a:buChar char="•"/>
            </a:pPr>
            <a:r>
              <a:rPr lang="en-US" sz="1700" dirty="0">
                <a:solidFill>
                  <a:schemeClr val="tx1"/>
                </a:solidFill>
              </a:rPr>
              <a:t>Honest limits: modelled (not metered) site load, assumed capital / outage data, flat CO2 factor</a:t>
            </a:r>
            <a:endParaRPr lang="en-US" sz="1700" dirty="0"/>
          </a:p>
        </p:txBody>
      </p:sp>
      <p:sp>
        <p:nvSpPr>
          <p:cNvPr id="4" name="Shape 2"/>
          <p:cNvSpPr/>
          <p:nvPr/>
        </p:nvSpPr>
        <p:spPr>
          <a:xfrm>
            <a:off x="7589520" y="1280160"/>
            <a:ext cx="4023360" cy="4937760"/>
          </a:xfrm>
          <a:prstGeom prst="roundRect">
            <a:avLst>
              <a:gd name="adj" fmla="val 1818"/>
            </a:avLst>
          </a:prstGeom>
          <a:solidFill>
            <a:srgbClr val="EEF2F5"/>
          </a:solidFill>
          <a:ln/>
        </p:spPr>
      </p:sp>
      <p:sp>
        <p:nvSpPr>
          <p:cNvPr id="5" name="Text 3"/>
          <p:cNvSpPr txBox="1"/>
          <p:nvPr/>
        </p:nvSpPr>
        <p:spPr>
          <a:xfrm>
            <a:off x="7818120" y="1463040"/>
            <a:ext cx="3657600" cy="4572000"/>
          </a:xfrm>
          <a:prstGeom prst="rect">
            <a:avLst/>
          </a:prstGeom>
          <a:noFill/>
          <a:ln/>
        </p:spPr>
        <p:txBody>
          <a:bodyPr wrap="square" lIns="0" tIns="0" rIns="0" bIns="0" rtlCol="0" anchor="t"/>
          <a:lstStyle/>
          <a:p>
            <a:pPr indent="0" marL="0">
              <a:spcAft>
                <a:spcPts val="800"/>
              </a:spcAft>
              <a:buNone/>
            </a:pPr>
            <a:r>
              <a:rPr lang="en-US" sz="1800" b="1" dirty="0">
                <a:solidFill>
                  <a:srgbClr val="0F2236"/>
                </a:solidFill>
              </a:rPr>
              <a:t>Next steps</a:t>
            </a:r>
            <a:endParaRPr lang="en-US" sz="1400" dirty="0"/>
          </a:p>
          <a:p>
            <a:pPr marL="342900" indent="-342900">
              <a:spcAft>
                <a:spcPts val="800"/>
              </a:spcAft>
              <a:buSzPct val="100000"/>
              <a:buChar char="•"/>
            </a:pPr>
            <a:r>
              <a:rPr lang="en-US" sz="1400" dirty="0">
                <a:solidFill>
                  <a:srgbClr val="1B1B1B"/>
                </a:solidFill>
              </a:rPr>
              <a:t>Smart EV charging (shift / slow sessions) as a second control variable</a:t>
            </a:r>
            <a:endParaRPr lang="en-US" sz="1400" dirty="0"/>
          </a:p>
          <a:p>
            <a:pPr marL="342900" indent="-342900">
              <a:spcAft>
                <a:spcPts val="800"/>
              </a:spcAft>
              <a:buSzPct val="100000"/>
              <a:buChar char="•"/>
            </a:pPr>
            <a:r>
              <a:rPr lang="en-US" sz="1400" dirty="0">
                <a:solidFill>
                  <a:srgbClr val="1B1B1B"/>
                </a:solidFill>
              </a:rPr>
              <a:t>Battery ageing model in the objective (where GA / PSO beat LP)</a:t>
            </a:r>
            <a:endParaRPr lang="en-US" sz="1400" dirty="0"/>
          </a:p>
          <a:p>
            <a:pPr marL="342900" indent="-342900">
              <a:spcAft>
                <a:spcPts val="800"/>
              </a:spcAft>
              <a:buSzPct val="100000"/>
              <a:buChar char="•"/>
            </a:pPr>
            <a:r>
              <a:rPr lang="en-US" sz="1400" dirty="0">
                <a:solidFill>
                  <a:srgbClr val="1B1B1B"/>
                </a:solidFill>
              </a:rPr>
              <a:t>Real metered campus / EV-station data to retrain the forecaster</a:t>
            </a:r>
            <a:endParaRPr lang="en-US" sz="1400" dirty="0"/>
          </a:p>
          <a:p>
            <a:pPr marL="342900" indent="-342900">
              <a:spcAft>
                <a:spcPts val="800"/>
              </a:spcAft>
              <a:buSzPct val="100000"/>
              <a:buChar char="•"/>
            </a:pPr>
            <a:r>
              <a:rPr lang="en-US" sz="1400" dirty="0">
                <a:solidFill>
                  <a:srgbClr val="1B1B1B"/>
                </a:solidFill>
              </a:rPr>
              <a:t>Network-aware weights from a DSO feeder-stress signal (tariff peak 06-10 h is not the feeder peak 17-21 h)</a:t>
            </a:r>
            <a:endParaRPr lang="en-US" sz="1400" dirty="0"/>
          </a:p>
          <a:p>
            <a:pPr marL="342900" indent="-342900">
              <a:spcAft>
                <a:spcPts val="800"/>
              </a:spcAft>
              <a:buSzPct val="100000"/>
              <a:buChar char="•"/>
            </a:pPr>
            <a:r>
              <a:rPr lang="en-US" sz="1400" dirty="0">
                <a:solidFill>
                  <a:srgbClr val="1B1B1B"/>
                </a:solidFill>
              </a:rPr>
              <a:t>Hourly marginal CO2 factor instead of a flat average</a:t>
            </a:r>
            <a:endParaRPr lang="en-US" sz="1400" dirty="0"/>
          </a:p>
          <a:p>
            <a:pPr marL="342900" indent="-342900">
              <a:spcAft>
                <a:spcPts val="800"/>
              </a:spcAft>
              <a:buSzPct val="100000"/>
              <a:buChar char="•"/>
            </a:pPr>
            <a:r>
              <a:rPr lang="en-US" sz="1400" dirty="0">
                <a:solidFill>
                  <a:srgbClr val="1B1B1B"/>
                </a:solidFill>
              </a:rPr>
              <a:t>Conference paper write-up</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References</a:t>
            </a:r>
            <a:endParaRPr lang="en-US" sz="3000" dirty="0"/>
          </a:p>
        </p:txBody>
      </p:sp>
      <p:sp>
        <p:nvSpPr>
          <p:cNvPr id="3" name="Text 1"/>
          <p:cNvSpPr txBox="1"/>
          <p:nvPr/>
        </p:nvSpPr>
        <p:spPr>
          <a:xfrm>
            <a:off x="548640" y="1280160"/>
            <a:ext cx="11064240" cy="502920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chemeClr val="tx1"/>
                </a:solidFill>
              </a:rPr>
              <a:t>[1] M. M. Asiri et al., "Short-Term Load Forecasting in Smart Grids Using Hybrid Deep Learning," IEEE Access, vol. 12, pp. 23504-23513, 2024.</a:t>
            </a:r>
            <a:endParaRPr lang="en-US" sz="1300" dirty="0"/>
          </a:p>
          <a:p>
            <a:pPr marL="342900" indent="-342900">
              <a:spcAft>
                <a:spcPts val="600"/>
              </a:spcAft>
              <a:buSzPct val="100000"/>
              <a:buChar char="•"/>
            </a:pPr>
            <a:r>
              <a:rPr lang="en-US" sz="1300" dirty="0">
                <a:solidFill>
                  <a:schemeClr val="tx1"/>
                </a:solidFill>
              </a:rPr>
              <a:t>[2] W. M. N. Witharama et al., "Advanced Genetic Algorithm for Optimal Microgrid Scheduling Considering Solar and Load Forecasting, Battery Degradation, and Demand Response Dynamics," IEEE Access, vol. 12, pp. 83269-83284, 2024.</a:t>
            </a:r>
            <a:endParaRPr lang="en-US" sz="1300" dirty="0"/>
          </a:p>
          <a:p>
            <a:pPr marL="342900" indent="-342900">
              <a:spcAft>
                <a:spcPts val="600"/>
              </a:spcAft>
              <a:buSzPct val="100000"/>
              <a:buChar char="•"/>
            </a:pPr>
            <a:r>
              <a:rPr lang="en-US" sz="1300" dirty="0">
                <a:solidFill>
                  <a:schemeClr val="tx1"/>
                </a:solidFill>
              </a:rPr>
              <a:t>[3] A. U. Rehman, J. Lu, B. Du, F. Bai, M. J. Sanjari, "Efficient management of electric vehicle charging stations: balancing user preferences and grid demands with energy storage systems and renewable energy," Applied Energy, vol. 393, 126147, 2025.</a:t>
            </a:r>
            <a:endParaRPr lang="en-US" sz="1300" dirty="0"/>
          </a:p>
          <a:p>
            <a:pPr marL="342900" indent="-342900">
              <a:spcAft>
                <a:spcPts val="600"/>
              </a:spcAft>
              <a:buSzPct val="100000"/>
              <a:buChar char="•"/>
            </a:pPr>
            <a:r>
              <a:rPr lang="en-US" sz="1300" dirty="0">
                <a:solidFill>
                  <a:schemeClr val="tx1"/>
                </a:solidFill>
              </a:rPr>
              <a:t>[4] M. E. Baran and F. F. Wu, "Network reconfiguration in distribution systems for loss reduction and load balancing," IEEE Trans. Power Delivery, vol. 4, no. 2, pp. 1401-1407, 1989.</a:t>
            </a:r>
            <a:endParaRPr lang="en-US" sz="1300" dirty="0"/>
          </a:p>
          <a:p>
            <a:pPr marL="342900" indent="-342900">
              <a:spcAft>
                <a:spcPts val="600"/>
              </a:spcAft>
              <a:buSzPct val="100000"/>
              <a:buChar char="•"/>
            </a:pPr>
            <a:r>
              <a:rPr lang="en-US" sz="1300" dirty="0">
                <a:solidFill>
                  <a:schemeClr val="tx1"/>
                </a:solidFill>
              </a:rPr>
              <a:t>[5] M. E. Baran and F. F. Wu, "Optimal sizing of capacitors placed on a radial distribution system," IEEE Trans. Power Delivery, vol. 4, no. 1, pp. 735-743, 1989.</a:t>
            </a:r>
            <a:endParaRPr lang="en-US" sz="1300" dirty="0"/>
          </a:p>
          <a:p>
            <a:pPr marL="342900" indent="-342900">
              <a:spcAft>
                <a:spcPts val="600"/>
              </a:spcAft>
              <a:buSzPct val="100000"/>
              <a:buChar char="•"/>
            </a:pPr>
            <a:r>
              <a:rPr lang="en-US" sz="1300" dirty="0">
                <a:solidFill>
                  <a:schemeClr val="tx1"/>
                </a:solidFill>
              </a:rPr>
              <a:t>[6] L. Thurner et al., "pandapower - an open-source Python tool for convenient modeling, analysis, and optimization of electric power systems," IEEE Trans. Power Systems, vol. 33, no. 6, pp. 6510-6521, 2018.</a:t>
            </a:r>
            <a:endParaRPr lang="en-US" sz="1300" dirty="0"/>
          </a:p>
          <a:p>
            <a:pPr marL="342900" indent="-342900">
              <a:spcAft>
                <a:spcPts val="600"/>
              </a:spcAft>
              <a:buSzPct val="100000"/>
              <a:buChar char="•"/>
            </a:pPr>
            <a:r>
              <a:rPr lang="en-US" sz="1300" dirty="0">
                <a:solidFill>
                  <a:schemeClr val="tx1"/>
                </a:solidFill>
              </a:rPr>
              <a:t>[7] European Commission JRC, PVGIS v5.2; TGERC Retail Supply Tariff Order FY2023-24; CEA CO2 Baseline Database for the Indian Power Sector.</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aptive-ReBIS">
  <a:themeElements>
    <a:clrScheme name="Adaptive-ReBIS">
      <a:dk1>
        <a:srgbClr val="1B1B1B"/>
      </a:dk1>
      <a:lt1>
        <a:srgbClr val="FFFFFF"/>
      </a:lt1>
      <a:dk2>
        <a:srgbClr val="0F2236"/>
      </a:dk2>
      <a:lt2>
        <a:srgbClr val="EEF2F5"/>
      </a:lt2>
      <a:accent1>
        <a:srgbClr val="F2A900"/>
      </a:accent1>
      <a:accent2>
        <a:srgbClr val="2A78D6"/>
      </a:accent2>
      <a:accent3>
        <a:srgbClr val="1BAF7A"/>
      </a:accent3>
      <a:accent4>
        <a:srgbClr val="EB6834"/>
      </a:accent4>
      <a:accent5>
        <a:srgbClr val="4A3AA7"/>
      </a:accent5>
      <a:accent6>
        <a:srgbClr val="8A8984"/>
      </a:accent6>
      <a:hlink>
        <a:srgbClr val="2A78D6"/>
      </a:hlink>
      <a:folHlink>
        <a:srgbClr val="4A3AA7"/>
      </a:folHlink>
    </a:clrScheme>
    <a:fontScheme name="Adaptive-ReBI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Adaptive-ReBIS capstone review</dc:title>
  <dc:subject>PptxGenJS Presentation</dc:subject>
  <dc:creator>Reddy Phaneendra, Peela Sai Vivek</dc:creator>
  <cp:lastModifiedBy>Reddy Phaneendra, Peela Sai Vivek</cp:lastModifiedBy>
  <cp:revision>1</cp:revision>
  <dcterms:created xsi:type="dcterms:W3CDTF">2026-10-15T18:13:41Z</dcterms:created>
  <dcterms:modified xsi:type="dcterms:W3CDTF">2026-10-15T18:13:41Z</dcterms:modified>
</cp:coreProperties>
</file>